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72" r:id="rId16"/>
    <p:sldId id="271"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7" r:id="rId30"/>
    <p:sldId id="288" r:id="rId31"/>
    <p:sldId id="290" r:id="rId32"/>
    <p:sldId id="291" r:id="rId33"/>
    <p:sldId id="293" r:id="rId34"/>
    <p:sldId id="294" r:id="rId35"/>
    <p:sldId id="289" r:id="rId36"/>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12.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tags" Target="../tags/tag5.xml"/><Relationship Id="rId2" Type="http://schemas.openxmlformats.org/officeDocument/2006/relationships/image" Target="../media/image4.png"/><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tags" Target="../tags/tag9.xml"/><Relationship Id="rId4" Type="http://schemas.openxmlformats.org/officeDocument/2006/relationships/image" Target="../media/image8.png"/><Relationship Id="rId3" Type="http://schemas.openxmlformats.org/officeDocument/2006/relationships/tags" Target="../tags/tag8.xml"/><Relationship Id="rId2" Type="http://schemas.openxmlformats.org/officeDocument/2006/relationships/image" Target="../media/image7.png"/><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tags" Target="../tags/tag11.xml"/><Relationship Id="rId2" Type="http://schemas.openxmlformats.org/officeDocument/2006/relationships/image" Target="../media/image10.png"/><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DATA GATHERING</a:t>
            </a:r>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DATA GATHERING</a:t>
            </a:r>
            <a:endParaRPr lang="zh-CN" altLang="en-US"/>
          </a:p>
        </p:txBody>
      </p:sp>
      <p:sp>
        <p:nvSpPr>
          <p:cNvPr id="3" name="内容占位符 2"/>
          <p:cNvSpPr>
            <a:spLocks noGrp="1"/>
          </p:cNvSpPr>
          <p:nvPr>
            <p:ph idx="1"/>
          </p:nvPr>
        </p:nvSpPr>
        <p:spPr/>
        <p:txBody>
          <a:bodyPr/>
          <a:p>
            <a:r>
              <a:rPr lang="en-US" altLang="zh-CN"/>
              <a:t>Main goals about chap 8:</a:t>
            </a:r>
            <a:endParaRPr lang="en-US" altLang="zh-CN"/>
          </a:p>
          <a:p>
            <a:pPr lvl="1"/>
            <a:r>
              <a:rPr lang="en-US" altLang="zh-CN"/>
              <a:t>how to plan and run a successful data gathering program</a:t>
            </a:r>
            <a:endParaRPr lang="en-US" altLang="zh-CN"/>
          </a:p>
          <a:p>
            <a:pPr lvl="1"/>
            <a:r>
              <a:rPr lang="en-US" altLang="zh-CN"/>
              <a:t>how to run a interview</a:t>
            </a:r>
            <a:endParaRPr lang="en-US" altLang="zh-CN"/>
          </a:p>
          <a:p>
            <a:pPr lvl="1"/>
            <a:r>
              <a:rPr lang="en-US" altLang="zh-CN"/>
              <a:t>how to design a questionnaire</a:t>
            </a:r>
            <a:endParaRPr lang="en-US" altLang="zh-CN"/>
          </a:p>
          <a:p>
            <a:pPr lvl="1"/>
            <a:r>
              <a:rPr lang="en-US" altLang="zh-CN"/>
              <a:t>help you to plan and carry out an observation</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DATA GATHERING</a:t>
            </a:r>
            <a:r>
              <a:rPr lang="en-US" altLang="zh-CN">
                <a:sym typeface="+mn-ea"/>
              </a:rPr>
              <a:t>:</a:t>
            </a:r>
            <a:r>
              <a:rPr lang="en-US" altLang="zh-CN"/>
              <a:t>Introduction</a:t>
            </a:r>
            <a:endParaRPr lang="en-US" altLang="zh-CN"/>
          </a:p>
        </p:txBody>
      </p:sp>
      <p:sp>
        <p:nvSpPr>
          <p:cNvPr id="3" name="内容占位符 2"/>
          <p:cNvSpPr>
            <a:spLocks noGrp="1"/>
          </p:cNvSpPr>
          <p:nvPr>
            <p:ph idx="1"/>
          </p:nvPr>
        </p:nvSpPr>
        <p:spPr/>
        <p:txBody>
          <a:bodyPr/>
          <a:p>
            <a:r>
              <a:rPr lang="en-US" altLang="zh-CN"/>
              <a:t>Data can be anything that is useful for understanding a particular design</a:t>
            </a:r>
            <a:endParaRPr lang="en-US" altLang="zh-CN"/>
          </a:p>
          <a:p>
            <a:r>
              <a:rPr lang="en-US" altLang="zh-CN"/>
              <a:t>Data can be </a:t>
            </a:r>
            <a:r>
              <a:rPr lang="en-US" altLang="zh-CN" u="sng"/>
              <a:t>quantitative</a:t>
            </a:r>
            <a:r>
              <a:rPr lang="en-US" altLang="zh-CN"/>
              <a:t> or </a:t>
            </a:r>
            <a:r>
              <a:rPr lang="en-US" altLang="zh-CN" u="sng"/>
              <a:t>qualitative</a:t>
            </a:r>
            <a:r>
              <a:rPr lang="en-US" altLang="zh-CN"/>
              <a:t>.</a:t>
            </a:r>
            <a:endParaRPr lang="en-US" altLang="zh-CN"/>
          </a:p>
          <a:p>
            <a:r>
              <a:rPr lang="en-US" altLang="zh-CN"/>
              <a:t>Data gathering captures user reactions with a system</a:t>
            </a:r>
            <a:endParaRPr lang="en-US" altLang="zh-CN"/>
          </a:p>
          <a:p>
            <a:r>
              <a:rPr lang="en-US" altLang="zh-CN"/>
              <a:t>Three main techniques are introduced:</a:t>
            </a:r>
            <a:endParaRPr lang="en-US" altLang="zh-CN"/>
          </a:p>
          <a:p>
            <a:pPr lvl="1"/>
            <a:r>
              <a:rPr lang="en-US" altLang="zh-CN"/>
              <a:t>INTERVIEWS</a:t>
            </a:r>
            <a:endParaRPr lang="en-US" altLang="zh-CN"/>
          </a:p>
          <a:p>
            <a:pPr lvl="1"/>
            <a:r>
              <a:rPr lang="en-US" altLang="zh-CN"/>
              <a:t>QUESNTIONNAIRES</a:t>
            </a:r>
            <a:endParaRPr lang="en-US" altLang="zh-CN"/>
          </a:p>
          <a:p>
            <a:pPr lvl="1"/>
            <a:r>
              <a:rPr lang="en-US" altLang="zh-CN"/>
              <a:t>OBSERVATION</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DATA GATHERING</a:t>
            </a:r>
            <a:r>
              <a:rPr lang="en-US" altLang="zh-CN">
                <a:sym typeface="+mn-ea"/>
              </a:rPr>
              <a:t>:</a:t>
            </a:r>
            <a:r>
              <a:rPr lang="en-US" altLang="zh-CN">
                <a:sym typeface="+mn-ea"/>
              </a:rPr>
              <a:t>Introduction</a:t>
            </a:r>
            <a:endParaRPr lang="zh-CN" altLang="en-US"/>
          </a:p>
        </p:txBody>
      </p:sp>
      <p:sp>
        <p:nvSpPr>
          <p:cNvPr id="3" name="内容占位符 2"/>
          <p:cNvSpPr>
            <a:spLocks noGrp="1"/>
          </p:cNvSpPr>
          <p:nvPr>
            <p:ph idx="1"/>
          </p:nvPr>
        </p:nvSpPr>
        <p:spPr/>
        <p:txBody>
          <a:bodyPr/>
          <a:p>
            <a:r>
              <a:rPr lang="en-US" altLang="zh-CN"/>
              <a:t>features about this techniques:</a:t>
            </a:r>
            <a:endParaRPr lang="en-US" altLang="zh-CN"/>
          </a:p>
          <a:p>
            <a:pPr lvl="1"/>
            <a:r>
              <a:rPr lang="en-US" altLang="zh-CN">
                <a:sym typeface="+mn-ea"/>
              </a:rPr>
              <a:t>INTERVIEWS:</a:t>
            </a:r>
            <a:endParaRPr lang="en-US" altLang="zh-CN">
              <a:sym typeface="+mn-ea"/>
            </a:endParaRPr>
          </a:p>
          <a:p>
            <a:pPr marL="914400" lvl="2" indent="0">
              <a:buNone/>
            </a:pPr>
            <a:r>
              <a:rPr lang="en-US" altLang="zh-CN" sz="2400">
                <a:sym typeface="+mn-ea"/>
              </a:rPr>
              <a:t>an interviewer,one more interviewees,synchronous,often f-t-f.</a:t>
            </a:r>
            <a:endParaRPr lang="en-US" altLang="zh-CN" sz="2400">
              <a:sym typeface="+mn-ea"/>
            </a:endParaRPr>
          </a:p>
          <a:p>
            <a:pPr lvl="1"/>
            <a:r>
              <a:rPr lang="en-US" altLang="zh-CN">
                <a:sym typeface="+mn-ea"/>
              </a:rPr>
              <a:t>QUESNTIONNAIRES:</a:t>
            </a:r>
            <a:endParaRPr lang="en-US" altLang="zh-CN">
              <a:sym typeface="+mn-ea"/>
            </a:endParaRPr>
          </a:p>
          <a:p>
            <a:pPr marL="914400" lvl="2" indent="0">
              <a:buNone/>
            </a:pPr>
            <a:r>
              <a:rPr lang="en-US" altLang="zh-CN" sz="2400"/>
              <a:t>a series of questions to be answered asynchronously,paper-based or available online.</a:t>
            </a:r>
            <a:endParaRPr lang="en-US" altLang="zh-CN" sz="2400"/>
          </a:p>
          <a:p>
            <a:pPr lvl="1"/>
            <a:r>
              <a:rPr lang="en-US" altLang="zh-CN">
                <a:sym typeface="+mn-ea"/>
              </a:rPr>
              <a:t>OBSERVATION</a:t>
            </a:r>
            <a:endParaRPr lang="en-US" altLang="zh-CN"/>
          </a:p>
          <a:p>
            <a:pPr marL="914400" lvl="2" indent="0">
              <a:buNone/>
            </a:pPr>
            <a:r>
              <a:rPr lang="en-US" altLang="zh-CN" sz="2400"/>
              <a:t>direct or indirect.</a:t>
            </a:r>
            <a:endParaRPr lang="en-US" altLang="zh-CN" sz="2400"/>
          </a:p>
          <a:p>
            <a:pPr marL="228600" lvl="0" indent="-228600">
              <a:buFont typeface="Arial" panose="020B0604020202020204" pitchFamily="34" charset="0"/>
              <a:buChar char="•"/>
            </a:pPr>
            <a:r>
              <a:rPr lang="en-US" altLang="zh-CN">
                <a:solidFill>
                  <a:schemeClr val="tx1"/>
                </a:solidFill>
              </a:rPr>
              <a:t>This three techs are used to collect </a:t>
            </a:r>
            <a:r>
              <a:rPr lang="en-US" altLang="zh-CN" u="sng">
                <a:sym typeface="+mn-ea"/>
              </a:rPr>
              <a:t>quantitative</a:t>
            </a:r>
            <a:r>
              <a:rPr lang="en-US" altLang="zh-CN">
                <a:sym typeface="+mn-ea"/>
              </a:rPr>
              <a:t> or </a:t>
            </a:r>
            <a:r>
              <a:rPr lang="en-US" altLang="zh-CN" u="sng">
                <a:sym typeface="+mn-ea"/>
              </a:rPr>
              <a:t>qualitative</a:t>
            </a:r>
            <a:r>
              <a:rPr lang="en-US" altLang="zh-CN">
                <a:sym typeface="+mn-ea"/>
              </a:rPr>
              <a:t> data</a:t>
            </a:r>
            <a:endParaRPr lang="en-US" altLang="zh-CN">
              <a:solidFill>
                <a:schemeClr val="tx1"/>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Five Key Issues</a:t>
            </a:r>
            <a:endParaRPr lang="en-US" altLang="zh-CN"/>
          </a:p>
        </p:txBody>
      </p:sp>
      <p:sp>
        <p:nvSpPr>
          <p:cNvPr id="3" name="内容占位符 2"/>
          <p:cNvSpPr>
            <a:spLocks noGrp="1"/>
          </p:cNvSpPr>
          <p:nvPr>
            <p:ph idx="1"/>
          </p:nvPr>
        </p:nvSpPr>
        <p:spPr/>
        <p:txBody>
          <a:bodyPr/>
          <a:p>
            <a:r>
              <a:rPr lang="zh-CN" altLang="en-US"/>
              <a:t>Five Key Issues</a:t>
            </a:r>
            <a:r>
              <a:rPr lang="en-US" altLang="zh-CN"/>
              <a:t>:</a:t>
            </a:r>
            <a:endParaRPr lang="en-US" altLang="zh-CN"/>
          </a:p>
          <a:p>
            <a:pPr lvl="1"/>
            <a:r>
              <a:rPr lang="en-US" altLang="zh-CN"/>
              <a:t>goal setting</a:t>
            </a:r>
            <a:endParaRPr lang="en-US" altLang="zh-CN"/>
          </a:p>
          <a:p>
            <a:pPr lvl="1"/>
            <a:r>
              <a:rPr lang="en-US" altLang="zh-CN"/>
              <a:t>identifying participants</a:t>
            </a:r>
            <a:endParaRPr lang="en-US" altLang="zh-CN"/>
          </a:p>
          <a:p>
            <a:pPr lvl="1"/>
            <a:r>
              <a:rPr lang="en-US" altLang="zh-CN"/>
              <a:t>the relationship between the data collector and the data provider</a:t>
            </a:r>
            <a:endParaRPr lang="en-US" altLang="zh-CN"/>
          </a:p>
          <a:p>
            <a:pPr lvl="1"/>
            <a:r>
              <a:rPr lang="en-US" altLang="zh-CN"/>
              <a:t>triangulation</a:t>
            </a:r>
            <a:endParaRPr lang="en-US" altLang="zh-CN"/>
          </a:p>
          <a:p>
            <a:pPr lvl="1"/>
            <a:r>
              <a:rPr lang="en-US" altLang="zh-CN"/>
              <a:t>pilot studies</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:Setting Goals</a:t>
            </a:r>
            <a:endParaRPr lang="en-US" altLang="zh-CN">
              <a:sym typeface="+mn-ea"/>
            </a:endParaRPr>
          </a:p>
        </p:txBody>
      </p:sp>
      <p:sp>
        <p:nvSpPr>
          <p:cNvPr id="3" name="内容占位符 2"/>
          <p:cNvSpPr>
            <a:spLocks noGrp="1"/>
          </p:cNvSpPr>
          <p:nvPr>
            <p:ph idx="1"/>
          </p:nvPr>
        </p:nvSpPr>
        <p:spPr/>
        <p:txBody>
          <a:bodyPr/>
          <a:p>
            <a:r>
              <a:rPr lang="en-US" altLang="zh-CN"/>
              <a:t>main reason for gethering data:collect information about users,their behavior,their reaction to technology.</a:t>
            </a:r>
            <a:endParaRPr lang="en-US" altLang="zh-CN"/>
          </a:p>
          <a:p>
            <a:r>
              <a:rPr lang="en-US" altLang="zh-CN"/>
              <a:t>why setting goals matters:goals will influence the nature of data gathering sessions, the techniques to be used, and the analysis</a:t>
            </a:r>
            <a:endParaRPr lang="en-US" altLang="zh-CN"/>
          </a:p>
          <a:p>
            <a:r>
              <a:rPr lang="en-US" altLang="zh-CN"/>
              <a:t>In interaction design, it is more common to express goals for data gathering </a:t>
            </a:r>
            <a:r>
              <a:rPr lang="en-US" altLang="zh-CN" u="sng"/>
              <a:t>informally</a:t>
            </a:r>
            <a:endParaRPr lang="en-US" altLang="zh-CN" u="sn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:Identifying Participants</a:t>
            </a:r>
            <a:endParaRPr lang="en-US" altLang="zh-CN">
              <a:sym typeface="+mn-ea"/>
            </a:endParaRPr>
          </a:p>
        </p:txBody>
      </p:sp>
      <p:sp>
        <p:nvSpPr>
          <p:cNvPr id="3" name="内容占位符 2"/>
          <p:cNvSpPr>
            <a:spLocks noGrp="1"/>
          </p:cNvSpPr>
          <p:nvPr>
            <p:ph idx="1"/>
          </p:nvPr>
        </p:nvSpPr>
        <p:spPr/>
        <p:txBody>
          <a:bodyPr/>
          <a:p>
            <a:r>
              <a:rPr lang="zh-CN" altLang="en-US"/>
              <a:t>population</a:t>
            </a:r>
            <a:r>
              <a:rPr lang="en-US" altLang="zh-CN"/>
              <a:t>: people who fit the profile</a:t>
            </a:r>
            <a:endParaRPr lang="en-US" altLang="zh-CN"/>
          </a:p>
          <a:p>
            <a:r>
              <a:rPr lang="zh-CN" altLang="en-US"/>
              <a:t>sampling</a:t>
            </a:r>
            <a:r>
              <a:rPr lang="en-US" altLang="zh-CN"/>
              <a:t>:</a:t>
            </a:r>
            <a:endParaRPr lang="en-US" altLang="zh-CN"/>
          </a:p>
          <a:p>
            <a:pPr lvl="1"/>
            <a:r>
              <a:rPr lang="en-US" altLang="zh-CN" b="1"/>
              <a:t>all members</a:t>
            </a:r>
            <a:r>
              <a:rPr lang="en-US" altLang="zh-CN"/>
              <a:t> of the target population are accessible is called saturation sampling</a:t>
            </a:r>
            <a:endParaRPr lang="en-US" altLang="zh-CN"/>
          </a:p>
          <a:p>
            <a:pPr lvl="1"/>
            <a:r>
              <a:rPr lang="en-US" altLang="zh-CN"/>
              <a:t>only </a:t>
            </a:r>
            <a:r>
              <a:rPr lang="en-US" altLang="zh-CN" b="1"/>
              <a:t>a portion of</a:t>
            </a:r>
            <a:r>
              <a:rPr lang="en-US" altLang="zh-CN"/>
              <a:t> population involved in:</a:t>
            </a:r>
            <a:endParaRPr lang="en-US" altLang="zh-CN"/>
          </a:p>
          <a:p>
            <a:pPr lvl="2"/>
            <a:r>
              <a:rPr lang="en-US" altLang="zh-CN"/>
              <a:t>probability sampling:</a:t>
            </a:r>
            <a:endParaRPr lang="en-US" altLang="zh-CN"/>
          </a:p>
          <a:p>
            <a:pPr lvl="3"/>
            <a:r>
              <a:rPr lang="en-US" altLang="zh-CN"/>
              <a:t>simple random sampling or stratified sampling(</a:t>
            </a:r>
            <a:r>
              <a:rPr lang="zh-CN" altLang="en-US"/>
              <a:t>简单随机抽样</a:t>
            </a:r>
            <a:r>
              <a:rPr lang="en-US" altLang="zh-CN"/>
              <a:t>/</a:t>
            </a:r>
            <a:r>
              <a:rPr lang="zh-CN" altLang="en-US"/>
              <a:t>分层抽样</a:t>
            </a:r>
            <a:r>
              <a:rPr lang="en-US" altLang="zh-CN"/>
              <a:t>)</a:t>
            </a:r>
            <a:endParaRPr lang="en-US" altLang="zh-CN"/>
          </a:p>
          <a:p>
            <a:pPr lvl="2"/>
            <a:r>
              <a:rPr lang="en-US" altLang="zh-CN"/>
              <a:t>nonprobability sampling</a:t>
            </a:r>
            <a:endParaRPr lang="en-US" altLang="zh-CN"/>
          </a:p>
          <a:p>
            <a:pPr lvl="3"/>
            <a:r>
              <a:rPr lang="en-US" altLang="zh-CN"/>
              <a:t>convenience sampling , snowball sampling or volunteer panels</a:t>
            </a:r>
            <a:endParaRPr lang="en-US" altLang="zh-CN"/>
          </a:p>
          <a:p>
            <a:pPr marL="914400" lvl="2" indent="0">
              <a:buFont typeface="Arial" panose="020B0604020202020204" pitchFamily="34" charset="0"/>
              <a:buNone/>
            </a:pPr>
            <a:endParaRPr lang="zh-CN" alt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:Identifying Participants</a:t>
            </a:r>
            <a:endParaRPr lang="zh-CN" altLang="en-US"/>
          </a:p>
        </p:txBody>
      </p:sp>
      <p:sp>
        <p:nvSpPr>
          <p:cNvPr id="3" name="内容占位符 2"/>
          <p:cNvSpPr>
            <a:spLocks noGrp="1"/>
          </p:cNvSpPr>
          <p:nvPr>
            <p:ph idx="1"/>
          </p:nvPr>
        </p:nvSpPr>
        <p:spPr/>
        <p:txBody>
          <a:bodyPr/>
          <a:p>
            <a:pPr marL="0" lvl="2"/>
            <a:r>
              <a:rPr lang="en-US" altLang="zh-CN" sz="2800">
                <a:sym typeface="+mn-ea"/>
              </a:rPr>
              <a:t>difference between probability and nonprobability methods</a:t>
            </a:r>
            <a:r>
              <a:rPr lang="zh-CN" altLang="en-US" sz="2800">
                <a:sym typeface="+mn-ea"/>
              </a:rPr>
              <a:t>：</a:t>
            </a:r>
            <a:endParaRPr lang="zh-CN" altLang="en-US" sz="2800">
              <a:solidFill>
                <a:schemeClr val="tx1"/>
              </a:solidFill>
            </a:endParaRPr>
          </a:p>
          <a:p>
            <a:pPr lvl="1"/>
            <a:r>
              <a:rPr lang="en-US" altLang="zh-CN"/>
              <a:t>probability methods:can apply statistical tests and generalize to </a:t>
            </a:r>
            <a:r>
              <a:rPr lang="en-US" altLang="zh-CN" b="1"/>
              <a:t>the whole population</a:t>
            </a:r>
            <a:endParaRPr lang="en-US" altLang="zh-CN"/>
          </a:p>
          <a:p>
            <a:pPr lvl="1"/>
            <a:r>
              <a:rPr lang="en-US" altLang="zh-CN">
                <a:sym typeface="+mn-ea"/>
              </a:rPr>
              <a:t>nonprobability methods:</a:t>
            </a:r>
            <a:r>
              <a:rPr lang="en-US" altLang="zh-CN" b="1">
                <a:sym typeface="+mn-ea"/>
              </a:rPr>
              <a:t>not robust</a:t>
            </a:r>
            <a:endParaRPr lang="en-US" altLang="zh-CN" b="1">
              <a:sym typeface="+mn-ea"/>
            </a:endParaRPr>
          </a:p>
          <a:p>
            <a:pPr marL="228600" lvl="0" indent="-228600">
              <a:buFont typeface="Arial" panose="020B0604020202020204" pitchFamily="34" charset="0"/>
              <a:buChar char="•"/>
            </a:pPr>
            <a:endParaRPr lang="en-US" altLang="zh-CN" b="1">
              <a:solidFill>
                <a:schemeClr val="tx1"/>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:Relationship with Participants</a:t>
            </a:r>
            <a:endParaRPr lang="en-US" altLang="zh-CN">
              <a:sym typeface="+mn-ea"/>
            </a:endParaRPr>
          </a:p>
        </p:txBody>
      </p:sp>
      <p:sp>
        <p:nvSpPr>
          <p:cNvPr id="3" name="内容占位符 2"/>
          <p:cNvSpPr>
            <a:spLocks noGrp="1"/>
          </p:cNvSpPr>
          <p:nvPr>
            <p:ph idx="1"/>
          </p:nvPr>
        </p:nvSpPr>
        <p:spPr/>
        <p:txBody>
          <a:bodyPr/>
          <a:p>
            <a:r>
              <a:rPr lang="en-US" altLang="zh-CN"/>
              <a:t>make sure the relationship is clear and professional</a:t>
            </a:r>
            <a:endParaRPr lang="en-US" altLang="zh-CN"/>
          </a:p>
          <a:p>
            <a:r>
              <a:rPr lang="en-US" altLang="zh-CN"/>
              <a:t>different country ,different ways:</a:t>
            </a:r>
            <a:endParaRPr lang="en-US" altLang="zh-CN"/>
          </a:p>
          <a:p>
            <a:pPr lvl="1"/>
            <a:r>
              <a:rPr lang="en-US" altLang="zh-CN"/>
              <a:t>In the United States and United Kingdom,participants should sign an informed consent form intended to protect the interests of both the data gatherer and the data provider.</a:t>
            </a:r>
            <a:endParaRPr lang="en-US" altLang="zh-CN"/>
          </a:p>
          <a:p>
            <a:pPr lvl="1"/>
            <a:r>
              <a:rPr lang="en-US" altLang="zh-CN"/>
              <a:t>while in Scandinavia it’s not required.</a:t>
            </a:r>
            <a:endParaRPr lang="en-US" altLang="zh-CN"/>
          </a:p>
          <a:p>
            <a:pPr lvl="1"/>
            <a:r>
              <a:rPr lang="en-US" altLang="zh-CN"/>
              <a:t>a example</a:t>
            </a:r>
            <a:r>
              <a:rPr lang="zh-CN" altLang="en-US"/>
              <a:t>：</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1325563"/>
          </a:xfrm>
        </p:spPr>
        <p:txBody>
          <a:bodyPr/>
          <a:p>
            <a:r>
              <a:rPr lang="zh-CN" altLang="en-US">
                <a:sym typeface="+mn-ea"/>
              </a:rPr>
              <a:t>Five Key Issues</a:t>
            </a:r>
            <a:r>
              <a:rPr lang="en-US" altLang="zh-CN">
                <a:sym typeface="+mn-ea"/>
              </a:rPr>
              <a:t>:Relationship with Participants</a:t>
            </a:r>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3900805" y="1825625"/>
            <a:ext cx="4220845" cy="45332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:Triangulation</a:t>
            </a:r>
            <a:endParaRPr lang="en-US" altLang="zh-CN">
              <a:sym typeface="+mn-ea"/>
            </a:endParaRPr>
          </a:p>
        </p:txBody>
      </p:sp>
      <p:sp>
        <p:nvSpPr>
          <p:cNvPr id="3" name="内容占位符 2"/>
          <p:cNvSpPr>
            <a:spLocks noGrp="1"/>
          </p:cNvSpPr>
          <p:nvPr>
            <p:ph idx="1"/>
          </p:nvPr>
        </p:nvSpPr>
        <p:spPr/>
        <p:txBody>
          <a:bodyPr/>
          <a:p>
            <a:r>
              <a:rPr lang="en-US" altLang="zh-CN"/>
              <a:t>what’s Triangulation: a term used to refer to the investigation of a phenomenon from two different perspectives or more.</a:t>
            </a:r>
            <a:endParaRPr lang="en-US" altLang="zh-CN"/>
          </a:p>
          <a:p>
            <a:r>
              <a:rPr lang="en-US" altLang="zh-CN"/>
              <a:t>Four types of triangulation:</a:t>
            </a:r>
            <a:endParaRPr lang="en-US" altLang="zh-CN"/>
          </a:p>
          <a:p>
            <a:pPr lvl="1"/>
            <a:r>
              <a:rPr lang="en-US" altLang="zh-CN"/>
              <a:t>Triangulation of data</a:t>
            </a:r>
            <a:endParaRPr lang="en-US" altLang="zh-CN"/>
          </a:p>
          <a:p>
            <a:pPr lvl="2"/>
            <a:r>
              <a:rPr lang="en-US" altLang="zh-CN"/>
              <a:t>data is drawn from different sources at different times, in different places</a:t>
            </a:r>
            <a:endParaRPr lang="en-US" altLang="zh-CN"/>
          </a:p>
          <a:p>
            <a:pPr lvl="1"/>
            <a:r>
              <a:rPr lang="en-US" altLang="zh-CN"/>
              <a:t>Investigator triangulation</a:t>
            </a:r>
            <a:endParaRPr lang="en-US" altLang="zh-CN"/>
          </a:p>
          <a:p>
            <a:pPr lvl="2"/>
            <a:r>
              <a:rPr lang="en-US" altLang="zh-CN"/>
              <a:t>different researchers</a:t>
            </a:r>
            <a:endParaRPr lang="en-US" altLang="zh-CN"/>
          </a:p>
          <a:p>
            <a:pPr lvl="1"/>
            <a:r>
              <a:rPr lang="en-US" altLang="zh-CN"/>
              <a:t>Triangulation of theories</a:t>
            </a:r>
            <a:endParaRPr lang="en-US" altLang="zh-CN"/>
          </a:p>
          <a:p>
            <a:pPr lvl="2"/>
            <a:r>
              <a:rPr lang="en-US" altLang="zh-CN"/>
              <a:t>the use of different theoretical frameworks</a:t>
            </a:r>
            <a:endParaRPr lang="en-US" altLang="zh-CN"/>
          </a:p>
          <a:p>
            <a:pPr lvl="1"/>
            <a:r>
              <a:rPr lang="en-US" altLang="zh-CN"/>
              <a:t>Methodological triangulation</a:t>
            </a:r>
            <a:endParaRPr lang="en-US" altLang="zh-CN"/>
          </a:p>
          <a:p>
            <a:pPr lvl="2"/>
            <a:r>
              <a:rPr lang="en-US" altLang="zh-CN"/>
              <a:t> employ different data gathering techniques</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Five Key Issues:Pilot Studies</a:t>
            </a:r>
            <a:endParaRPr lang="en-US" altLang="zh-CN"/>
          </a:p>
        </p:txBody>
      </p:sp>
      <p:sp>
        <p:nvSpPr>
          <p:cNvPr id="3" name="内容占位符 2"/>
          <p:cNvSpPr>
            <a:spLocks noGrp="1"/>
          </p:cNvSpPr>
          <p:nvPr>
            <p:ph idx="1"/>
          </p:nvPr>
        </p:nvSpPr>
        <p:spPr/>
        <p:txBody>
          <a:bodyPr/>
          <a:p>
            <a:r>
              <a:rPr lang="zh-CN" altLang="en-US"/>
              <a:t>a small trial run of the main study</a:t>
            </a:r>
            <a:r>
              <a:rPr lang="en-US" altLang="zh-CN"/>
              <a:t>, make sure that the proposed method is viable before embarking on the real study</a:t>
            </a:r>
            <a:endParaRPr lang="en-US" altLang="zh-CN"/>
          </a:p>
          <a:p>
            <a:r>
              <a:rPr lang="en-US" altLang="zh-CN"/>
              <a:t>asking colleagues or peers to participate can work as an alternative for a pilot study</a:t>
            </a:r>
            <a:endParaRPr lang="en-US" altLang="zh-CN"/>
          </a:p>
          <a:p>
            <a:r>
              <a:rPr lang="en-US" altLang="zh-CN"/>
              <a:t>anyone involved in a pilot study </a:t>
            </a:r>
            <a:r>
              <a:rPr lang="en-US" altLang="zh-CN" b="1"/>
              <a:t>cannot </a:t>
            </a:r>
            <a:r>
              <a:rPr lang="en-US" altLang="zh-CN"/>
              <a:t>be involved</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Data Recording</a:t>
            </a:r>
            <a:endParaRPr lang="en-US" altLang="zh-CN"/>
          </a:p>
        </p:txBody>
      </p:sp>
      <p:sp>
        <p:nvSpPr>
          <p:cNvPr id="3" name="内容占位符 2"/>
          <p:cNvSpPr>
            <a:spLocks noGrp="1"/>
          </p:cNvSpPr>
          <p:nvPr>
            <p:ph idx="1"/>
          </p:nvPr>
        </p:nvSpPr>
        <p:spPr>
          <a:xfrm>
            <a:off x="838200" y="1896745"/>
            <a:ext cx="10515600" cy="4351338"/>
          </a:xfrm>
        </p:spPr>
        <p:txBody>
          <a:bodyPr>
            <a:normAutofit lnSpcReduction="20000"/>
          </a:bodyPr>
          <a:p>
            <a:r>
              <a:rPr lang="zh-CN" altLang="en-US"/>
              <a:t>Three common data recording approaches</a:t>
            </a:r>
            <a:r>
              <a:rPr lang="en-US" altLang="zh-CN"/>
              <a:t>:</a:t>
            </a:r>
            <a:endParaRPr lang="en-US" altLang="zh-CN"/>
          </a:p>
          <a:p>
            <a:pPr lvl="1"/>
            <a:r>
              <a:rPr lang="en-US" altLang="zh-CN"/>
              <a:t>Notes Plus Photographs</a:t>
            </a:r>
            <a:endParaRPr lang="en-US" altLang="zh-CN"/>
          </a:p>
          <a:p>
            <a:pPr lvl="2"/>
            <a:r>
              <a:rPr lang="en-US" altLang="zh-CN"/>
              <a:t>using pen &amp; paper</a:t>
            </a:r>
            <a:endParaRPr lang="en-US" altLang="zh-CN"/>
          </a:p>
          <a:p>
            <a:pPr lvl="2"/>
            <a:r>
              <a:rPr lang="en-US" altLang="zh-CN"/>
              <a:t>pos:more flexible,help reserchers think about what the data symbolized</a:t>
            </a:r>
            <a:endParaRPr lang="en-US" altLang="zh-CN"/>
          </a:p>
          <a:p>
            <a:pPr lvl="2"/>
            <a:r>
              <a:rPr lang="en-US" altLang="zh-CN"/>
              <a:t>neg:tiring to listen and write at the same time,easy to lose concentration,difficult to decipher</a:t>
            </a:r>
            <a:endParaRPr lang="en-US" altLang="zh-CN"/>
          </a:p>
          <a:p>
            <a:pPr lvl="2"/>
            <a:r>
              <a:rPr lang="en-US" altLang="zh-CN"/>
              <a:t>if possible, </a:t>
            </a:r>
            <a:r>
              <a:rPr lang="en-US" altLang="zh-CN" u="sng"/>
              <a:t>photograph(s) and short videos</a:t>
            </a:r>
            <a:r>
              <a:rPr lang="en-US" altLang="zh-CN"/>
              <a:t> can supplyment notes</a:t>
            </a:r>
            <a:endParaRPr lang="en-US" altLang="zh-CN"/>
          </a:p>
          <a:p>
            <a:pPr lvl="1"/>
            <a:r>
              <a:rPr lang="en-US" altLang="zh-CN"/>
              <a:t>Audio Plus Photographs</a:t>
            </a:r>
            <a:endParaRPr lang="en-US" altLang="zh-CN" sz="2400"/>
          </a:p>
          <a:p>
            <a:pPr lvl="2"/>
            <a:r>
              <a:rPr lang="en-US" altLang="zh-CN" sz="2000"/>
              <a:t>for observer, focus on the activity rather than capture every word</a:t>
            </a:r>
            <a:endParaRPr lang="en-US" altLang="zh-CN" sz="2000"/>
          </a:p>
          <a:p>
            <a:pPr lvl="2"/>
            <a:r>
              <a:rPr lang="en-US" altLang="zh-CN" sz="2000"/>
              <a:t>for interviewer, pay more attention to the interviewee rather than take notes while listening</a:t>
            </a:r>
            <a:endParaRPr lang="en-US" altLang="zh-CN" sz="2000"/>
          </a:p>
          <a:p>
            <a:pPr lvl="2"/>
            <a:r>
              <a:rPr lang="en-US" altLang="zh-CN"/>
              <a:t>Audio recordings are often supplemented with photographs when performing interviews remotely</a:t>
            </a:r>
            <a:endParaRPr lang="en-US" altLang="zh-CN"/>
          </a:p>
          <a:p>
            <a:pPr lvl="1"/>
            <a:r>
              <a:rPr lang="en-US" altLang="zh-CN"/>
              <a:t>Video</a:t>
            </a:r>
            <a:endParaRPr lang="en-US" altLang="zh-CN"/>
          </a:p>
          <a:p>
            <a:pPr lvl="2"/>
            <a:r>
              <a:rPr lang="en-US" altLang="zh-CN" sz="2000"/>
              <a:t>when and where to record.</a:t>
            </a:r>
            <a:endParaRPr lang="en-US" altLang="zh-CN"/>
          </a:p>
          <a:p>
            <a:pPr lvl="1"/>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Activity 8-1 </a:t>
            </a:r>
            <a:endParaRPr lang="en-US" altLang="zh-CN"/>
          </a:p>
        </p:txBody>
      </p:sp>
      <p:sp>
        <p:nvSpPr>
          <p:cNvPr id="3" name="内容占位符 2"/>
          <p:cNvSpPr>
            <a:spLocks noGrp="1"/>
          </p:cNvSpPr>
          <p:nvPr>
            <p:ph idx="1"/>
          </p:nvPr>
        </p:nvSpPr>
        <p:spPr/>
        <p:txBody>
          <a:bodyPr/>
          <a:p>
            <a:r>
              <a:rPr lang="zh-CN" altLang="en-US"/>
              <a:t>develop</a:t>
            </a:r>
            <a:r>
              <a:rPr lang="en-US" altLang="zh-CN"/>
              <a:t>ing</a:t>
            </a:r>
            <a:r>
              <a:rPr lang="zh-CN" altLang="en-US"/>
              <a:t> a new augmented reality garden planning tool</a:t>
            </a:r>
            <a:r>
              <a:rPr lang="en-US" altLang="zh-CN"/>
              <a:t>, The goal is to find out how garden designers use an early prototype as they walk around their clients’ gardens sketching design ideas, taking notes, and asking the clients about what they like</a:t>
            </a:r>
            <a:endParaRPr lang="en-US" altLang="zh-CN"/>
          </a:p>
          <a:p>
            <a:r>
              <a:rPr lang="en-US" altLang="zh-CN"/>
              <a:t>What are the advantages and disadvantages of the three approaches (note-taking, audio recording with photographs, and video for data recording?</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Interviews</a:t>
            </a:r>
            <a:r>
              <a:rPr lang="en-US" altLang="zh-CN"/>
              <a:t>--conversation with a purpose</a:t>
            </a:r>
            <a:endParaRPr lang="en-US" altLang="zh-CN"/>
          </a:p>
        </p:txBody>
      </p:sp>
      <p:sp>
        <p:nvSpPr>
          <p:cNvPr id="3" name="内容占位符 2"/>
          <p:cNvSpPr>
            <a:spLocks noGrp="1"/>
          </p:cNvSpPr>
          <p:nvPr>
            <p:ph idx="1"/>
          </p:nvPr>
        </p:nvSpPr>
        <p:spPr/>
        <p:txBody>
          <a:bodyPr/>
          <a:p>
            <a:r>
              <a:rPr lang="en-US" altLang="zh-CN"/>
              <a:t>four main types of interviews:</a:t>
            </a:r>
            <a:endParaRPr lang="en-US" altLang="zh-CN"/>
          </a:p>
          <a:p>
            <a:pPr lvl="1"/>
            <a:r>
              <a:rPr lang="en-US" altLang="zh-CN"/>
              <a:t>open-ended/unstructured</a:t>
            </a:r>
            <a:endParaRPr lang="en-US" altLang="zh-CN"/>
          </a:p>
          <a:p>
            <a:pPr lvl="1"/>
            <a:r>
              <a:rPr lang="en-US" altLang="zh-CN"/>
              <a:t>structured</a:t>
            </a:r>
            <a:endParaRPr lang="en-US" altLang="zh-CN"/>
          </a:p>
          <a:p>
            <a:pPr lvl="1"/>
            <a:r>
              <a:rPr lang="en-US" altLang="zh-CN"/>
              <a:t>semi-structured</a:t>
            </a:r>
            <a:endParaRPr lang="en-US" altLang="zh-CN"/>
          </a:p>
          <a:p>
            <a:pPr lvl="1"/>
            <a:r>
              <a:rPr lang="en-US" altLang="zh-CN"/>
              <a:t>group interviews,also called focus group</a:t>
            </a:r>
            <a:endParaRPr lang="en-US" altLang="zh-CN"/>
          </a:p>
          <a:p>
            <a:pPr lvl="0"/>
            <a:r>
              <a:rPr lang="en-US" altLang="zh-CN"/>
              <a:t>how to choose a proper one?</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Interviews</a:t>
            </a:r>
            <a:r>
              <a:rPr lang="en-US" altLang="zh-CN">
                <a:sym typeface="+mn-ea"/>
              </a:rPr>
              <a:t>--</a:t>
            </a:r>
            <a:r>
              <a:rPr lang="zh-CN" altLang="en-US">
                <a:sym typeface="+mn-ea"/>
              </a:rPr>
              <a:t>Unstructured Interviews</a:t>
            </a:r>
            <a:endParaRPr lang="zh-CN" altLang="en-US"/>
          </a:p>
        </p:txBody>
      </p:sp>
      <p:sp>
        <p:nvSpPr>
          <p:cNvPr id="3" name="内容占位符 2"/>
          <p:cNvSpPr>
            <a:spLocks noGrp="1"/>
          </p:cNvSpPr>
          <p:nvPr>
            <p:ph idx="1"/>
          </p:nvPr>
        </p:nvSpPr>
        <p:spPr/>
        <p:txBody>
          <a:bodyPr/>
          <a:p>
            <a:r>
              <a:rPr lang="zh-CN" altLang="en-US">
                <a:sym typeface="+mn-ea"/>
              </a:rPr>
              <a:t>similar to conversations around a particular topic</a:t>
            </a:r>
            <a:r>
              <a:rPr lang="en-US" altLang="zh-CN">
                <a:sym typeface="+mn-ea"/>
              </a:rPr>
              <a:t> and </a:t>
            </a:r>
            <a:r>
              <a:rPr lang="zh-CN" altLang="en-US">
                <a:sym typeface="+mn-ea"/>
              </a:rPr>
              <a:t>no particular expectation about the format or content of answers.</a:t>
            </a:r>
            <a:endParaRPr lang="zh-CN" altLang="en-US">
              <a:sym typeface="+mn-ea"/>
            </a:endParaRPr>
          </a:p>
          <a:p>
            <a:r>
              <a:rPr lang="zh-CN" altLang="en-US">
                <a:sym typeface="+mn-ea"/>
              </a:rPr>
              <a:t>both the interviewer and interviewee can steer the interview</a:t>
            </a:r>
            <a:endParaRPr lang="zh-CN" altLang="en-US">
              <a:sym typeface="+mn-ea"/>
            </a:endParaRPr>
          </a:p>
          <a:p>
            <a:r>
              <a:rPr lang="en-US" altLang="zh-CN">
                <a:sym typeface="+mn-ea"/>
              </a:rPr>
              <a:t>despite being open,the interviewer needs </a:t>
            </a:r>
            <a:r>
              <a:rPr lang="en-US" altLang="zh-CN" b="1">
                <a:sym typeface="+mn-ea"/>
              </a:rPr>
              <a:t>a plan of main topics</a:t>
            </a:r>
            <a:endParaRPr lang="en-US" altLang="zh-CN" b="1">
              <a:sym typeface="+mn-ea"/>
            </a:endParaRPr>
          </a:p>
          <a:p>
            <a:r>
              <a:rPr lang="en-US" altLang="zh-CN" b="1">
                <a:sym typeface="+mn-ea"/>
              </a:rPr>
              <a:t>benifit:</a:t>
            </a:r>
            <a:endParaRPr lang="en-US" altLang="zh-CN" b="1">
              <a:sym typeface="+mn-ea"/>
            </a:endParaRPr>
          </a:p>
          <a:p>
            <a:pPr lvl="1"/>
            <a:r>
              <a:rPr lang="en-US" altLang="zh-CN">
                <a:sym typeface="+mn-ea"/>
              </a:rPr>
              <a:t>generate rich data</a:t>
            </a:r>
            <a:endParaRPr lang="en-US" altLang="zh-CN">
              <a:sym typeface="+mn-ea"/>
            </a:endParaRPr>
          </a:p>
          <a:p>
            <a:pPr lvl="1"/>
            <a:r>
              <a:rPr lang="zh-CN" altLang="en-US">
                <a:sym typeface="+mn-ea"/>
              </a:rPr>
              <a:t>exploratory</a:t>
            </a:r>
            <a:endParaRPr lang="zh-CN" altLang="en-US">
              <a:sym typeface="+mn-ea"/>
            </a:endParaRPr>
          </a:p>
          <a:p>
            <a:pPr lvl="1"/>
            <a:r>
              <a:rPr lang="en-US" altLang="zh-CN">
                <a:sym typeface="+mn-ea"/>
              </a:rPr>
              <a:t>produce rich insights</a:t>
            </a:r>
            <a:endParaRPr lang="en-US" altLang="zh-CN">
              <a:sym typeface="+mn-ea"/>
            </a:endParaRPr>
          </a:p>
          <a:p>
            <a:pPr lvl="1"/>
            <a:endParaRPr lang="en-US" altLang="zh-CN">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Interviews</a:t>
            </a:r>
            <a:r>
              <a:rPr lang="en-US" altLang="zh-CN">
                <a:sym typeface="+mn-ea"/>
              </a:rPr>
              <a:t>--Structured Interviews</a:t>
            </a:r>
            <a:endParaRPr lang="en-US" altLang="zh-CN">
              <a:sym typeface="+mn-ea"/>
            </a:endParaRPr>
          </a:p>
        </p:txBody>
      </p:sp>
      <p:sp>
        <p:nvSpPr>
          <p:cNvPr id="3" name="内容占位符 2"/>
          <p:cNvSpPr>
            <a:spLocks noGrp="1"/>
          </p:cNvSpPr>
          <p:nvPr>
            <p:ph idx="1"/>
          </p:nvPr>
        </p:nvSpPr>
        <p:spPr/>
        <p:txBody>
          <a:bodyPr/>
          <a:p>
            <a:r>
              <a:rPr lang="zh-CN" altLang="en-US"/>
              <a:t>asks predetermined questions similar to those in a questionnaire</a:t>
            </a:r>
            <a:endParaRPr lang="zh-CN" altLang="en-US"/>
          </a:p>
          <a:p>
            <a:r>
              <a:rPr lang="zh-CN" altLang="en-US"/>
              <a:t>work well if the range of possible answers is known</a:t>
            </a:r>
            <a:endParaRPr lang="zh-CN" altLang="en-US"/>
          </a:p>
          <a:p>
            <a:r>
              <a:rPr lang="en-US" altLang="zh-CN"/>
              <a:t>examples:</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1677670" y="3571240"/>
            <a:ext cx="8450580" cy="1851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Interviews</a:t>
            </a:r>
            <a:r>
              <a:rPr lang="en-US" altLang="zh-CN">
                <a:sym typeface="+mn-ea"/>
              </a:rPr>
              <a:t>--Semi-structured Interviews</a:t>
            </a:r>
            <a:endParaRPr lang="en-US" altLang="zh-CN">
              <a:sym typeface="+mn-ea"/>
            </a:endParaRPr>
          </a:p>
        </p:txBody>
      </p:sp>
      <p:sp>
        <p:nvSpPr>
          <p:cNvPr id="3" name="内容占位符 2"/>
          <p:cNvSpPr>
            <a:spLocks noGrp="1"/>
          </p:cNvSpPr>
          <p:nvPr>
            <p:ph idx="1"/>
          </p:nvPr>
        </p:nvSpPr>
        <p:spPr/>
        <p:txBody>
          <a:bodyPr/>
          <a:p>
            <a:r>
              <a:rPr lang="zh-CN" altLang="en-US"/>
              <a:t>a basic script for guidance so that the same topics are covered with each interviewee</a:t>
            </a:r>
            <a:endParaRPr lang="zh-CN" altLang="en-US"/>
          </a:p>
          <a:p>
            <a:r>
              <a:rPr lang="zh-CN" altLang="en-US"/>
              <a:t>not to pre-empt an answer</a:t>
            </a:r>
            <a:r>
              <a:rPr lang="en-US" altLang="zh-CN"/>
              <a:t>, the body language of the interviewer have a strong influence on whether the interviewee will agree with a question</a:t>
            </a:r>
            <a:endParaRPr lang="en-US" altLang="zh-CN"/>
          </a:p>
          <a:p>
            <a:r>
              <a:rPr lang="en-US" altLang="zh-CN"/>
              <a:t>Probes without introducing bias are a useful device</a:t>
            </a: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Interviews</a:t>
            </a:r>
            <a:r>
              <a:rPr lang="en-US" altLang="zh-CN">
                <a:sym typeface="+mn-ea"/>
              </a:rPr>
              <a:t>--Semi-structured Interviews</a:t>
            </a:r>
            <a:endParaRPr lang="zh-CN" altLang="en-US"/>
          </a:p>
        </p:txBody>
      </p:sp>
      <p:sp>
        <p:nvSpPr>
          <p:cNvPr id="5" name="内容占位符 4"/>
          <p:cNvSpPr/>
          <p:nvPr>
            <p:ph idx="1"/>
          </p:nvPr>
        </p:nvSpPr>
        <p:spPr/>
        <p:txBody>
          <a:bodyPr/>
          <a:p>
            <a:r>
              <a:rPr lang="en-US" altLang="zh-CN"/>
              <a:t>an example:</a:t>
            </a:r>
            <a:endParaRPr lang="en-US" altLang="zh-CN"/>
          </a:p>
          <a:p>
            <a:endParaRPr lang="en-US" altLang="zh-CN"/>
          </a:p>
        </p:txBody>
      </p:sp>
      <p:pic>
        <p:nvPicPr>
          <p:cNvPr id="6" name="内容占位符 3"/>
          <p:cNvPicPr>
            <a:picLocks noChangeAspect="1"/>
          </p:cNvPicPr>
          <p:nvPr>
            <p:custDataLst>
              <p:tags r:id="rId1"/>
            </p:custDataLst>
          </p:nvPr>
        </p:nvPicPr>
        <p:blipFill>
          <a:blip r:embed="rId2"/>
          <a:stretch>
            <a:fillRect/>
          </a:stretch>
        </p:blipFill>
        <p:spPr>
          <a:xfrm>
            <a:off x="1567180" y="3063875"/>
            <a:ext cx="9057005" cy="26574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Interviews--Focus Groups</a:t>
            </a:r>
            <a:endParaRPr lang="en-US" altLang="zh-CN"/>
          </a:p>
        </p:txBody>
      </p:sp>
      <p:sp>
        <p:nvSpPr>
          <p:cNvPr id="3" name="内容占位符 2"/>
          <p:cNvSpPr>
            <a:spLocks noGrp="1"/>
          </p:cNvSpPr>
          <p:nvPr>
            <p:ph idx="1"/>
          </p:nvPr>
        </p:nvSpPr>
        <p:spPr/>
        <p:txBody>
          <a:bodyPr/>
          <a:p>
            <a:r>
              <a:rPr lang="en-US" altLang="zh-CN"/>
              <a:t>three to ten people involved in the group leaded by a trained facilitator</a:t>
            </a:r>
            <a:endParaRPr lang="en-US" altLang="zh-CN"/>
          </a:p>
          <a:p>
            <a:r>
              <a:rPr lang="zh-CN" altLang="en-US"/>
              <a:t>identify conflicts in expectations or terminology from different stakeholders</a:t>
            </a:r>
            <a:r>
              <a:rPr lang="en-US" altLang="zh-CN"/>
              <a:t>(</a:t>
            </a:r>
            <a:r>
              <a:rPr lang="zh-CN" altLang="en-US"/>
              <a:t>利益相关者</a:t>
            </a:r>
            <a:r>
              <a:rPr lang="en-US" altLang="zh-CN"/>
              <a:t>)</a:t>
            </a:r>
            <a:endParaRPr lang="en-US" altLang="zh-CN"/>
          </a:p>
          <a:p>
            <a:r>
              <a:rPr lang="en-US" altLang="zh-CN"/>
              <a:t>benefits: </a:t>
            </a:r>
            <a:endParaRPr lang="en-US" altLang="zh-CN"/>
          </a:p>
          <a:p>
            <a:pPr lvl="1"/>
            <a:r>
              <a:rPr lang="en-US" altLang="zh-CN"/>
              <a:t>allows diverse or sensitive issues to be raised</a:t>
            </a:r>
            <a:endParaRPr lang="en-US" altLang="zh-CN"/>
          </a:p>
          <a:p>
            <a:pPr lvl="1"/>
            <a:r>
              <a:rPr lang="en-US" altLang="zh-CN"/>
              <a:t>convenient to guide and prompt discussion</a:t>
            </a:r>
            <a:endParaRPr lang="en-US" altLang="zh-CN"/>
          </a:p>
          <a:p>
            <a:pPr lvl="1"/>
            <a:r>
              <a:rPr lang="en-US" altLang="zh-CN"/>
              <a:t>encourage quiet people and stop verbose ones from dominating</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Interviews--Planning and Conducting an Interview</a:t>
            </a:r>
            <a:endParaRPr lang="en-US" altLang="zh-CN">
              <a:sym typeface="+mn-ea"/>
            </a:endParaRPr>
          </a:p>
        </p:txBody>
      </p:sp>
      <p:sp>
        <p:nvSpPr>
          <p:cNvPr id="3" name="内容占位符 2"/>
          <p:cNvSpPr>
            <a:spLocks noGrp="1"/>
          </p:cNvSpPr>
          <p:nvPr>
            <p:ph idx="1"/>
          </p:nvPr>
        </p:nvSpPr>
        <p:spPr/>
        <p:txBody>
          <a:bodyPr/>
          <a:p>
            <a:r>
              <a:rPr lang="en-US" altLang="zh-CN"/>
              <a:t>Developing Interview questions</a:t>
            </a:r>
            <a:endParaRPr lang="en-US" altLang="zh-CN"/>
          </a:p>
          <a:p>
            <a:pPr lvl="1"/>
            <a:r>
              <a:rPr lang="en-US" altLang="zh-CN"/>
              <a:t>open-ended:unstructured interview</a:t>
            </a:r>
            <a:endParaRPr lang="en-US" altLang="zh-CN"/>
          </a:p>
          <a:p>
            <a:pPr lvl="1"/>
            <a:r>
              <a:rPr lang="en-US" altLang="zh-CN"/>
              <a:t>closed-ended:structured interview</a:t>
            </a:r>
            <a:endParaRPr lang="en-US" altLang="zh-CN"/>
          </a:p>
          <a:p>
            <a:pPr lvl="1"/>
            <a:r>
              <a:rPr lang="en-US" altLang="zh-CN"/>
              <a:t>combination of both types:semi-structured interview</a:t>
            </a:r>
            <a:endParaRPr lang="en-US" altLang="zh-CN"/>
          </a:p>
          <a:p>
            <a:pPr lvl="1"/>
            <a:r>
              <a:rPr lang="en-US" altLang="zh-CN"/>
              <a:t>some tips:</a:t>
            </a:r>
            <a:endParaRPr lang="en-US" altLang="zh-CN"/>
          </a:p>
          <a:p>
            <a:pPr lvl="2"/>
            <a:r>
              <a:rPr lang="en-US" altLang="zh-CN"/>
              <a:t>split a complicated Q into two separate questions.</a:t>
            </a:r>
            <a:endParaRPr lang="en-US" altLang="zh-CN"/>
          </a:p>
          <a:p>
            <a:pPr lvl="2"/>
            <a:r>
              <a:rPr lang="en-US" altLang="zh-CN"/>
              <a:t>explain jargons(</a:t>
            </a:r>
            <a:r>
              <a:rPr lang="zh-CN" altLang="en-US"/>
              <a:t>黑话</a:t>
            </a:r>
            <a:r>
              <a:rPr lang="en-US" altLang="zh-CN"/>
              <a:t>) in straightforward ways.</a:t>
            </a:r>
            <a:endParaRPr lang="en-US" altLang="zh-CN"/>
          </a:p>
          <a:p>
            <a:pPr lvl="2"/>
            <a:r>
              <a:rPr lang="en-US" altLang="zh-CN"/>
              <a:t>keep quastions neutral</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Interviews--Running the Interview</a:t>
            </a:r>
            <a:endParaRPr lang="en-US" altLang="zh-CN">
              <a:sym typeface="+mn-ea"/>
            </a:endParaRPr>
          </a:p>
        </p:txBody>
      </p:sp>
      <p:sp>
        <p:nvSpPr>
          <p:cNvPr id="3" name="内容占位符 2"/>
          <p:cNvSpPr>
            <a:spLocks noGrp="1"/>
          </p:cNvSpPr>
          <p:nvPr>
            <p:ph idx="1"/>
          </p:nvPr>
        </p:nvSpPr>
        <p:spPr/>
        <p:txBody>
          <a:bodyPr/>
          <a:p>
            <a:r>
              <a:rPr lang="en-US" altLang="zh-CN"/>
              <a:t>listen more than to talk, response without bias</a:t>
            </a:r>
            <a:endParaRPr lang="en-US" altLang="zh-CN"/>
          </a:p>
          <a:p>
            <a:pPr lvl="0"/>
            <a:r>
              <a:rPr lang="en-US" altLang="zh-CN"/>
              <a:t>a common sequence:</a:t>
            </a:r>
            <a:endParaRPr lang="en-US" altLang="zh-CN"/>
          </a:p>
          <a:p>
            <a:pPr lvl="1"/>
            <a:r>
              <a:rPr lang="en-US" altLang="zh-CN"/>
              <a:t>An introduction</a:t>
            </a:r>
            <a:endParaRPr lang="en-US" altLang="zh-CN"/>
          </a:p>
          <a:p>
            <a:pPr lvl="1"/>
            <a:r>
              <a:rPr lang="en-US" altLang="zh-CN"/>
              <a:t>A warm-up session</a:t>
            </a:r>
            <a:endParaRPr lang="en-US" altLang="zh-CN"/>
          </a:p>
          <a:p>
            <a:pPr lvl="1"/>
            <a:r>
              <a:rPr lang="en-US" altLang="zh-CN"/>
              <a:t>Main session in a logical sequence</a:t>
            </a:r>
            <a:endParaRPr lang="en-US" altLang="zh-CN"/>
          </a:p>
          <a:p>
            <a:pPr lvl="1"/>
            <a:r>
              <a:rPr lang="en-US" altLang="zh-CN"/>
              <a:t>A cooling-off period</a:t>
            </a:r>
            <a:endParaRPr lang="en-US" altLang="zh-CN"/>
          </a:p>
          <a:p>
            <a:pPr lvl="1"/>
            <a:r>
              <a:rPr lang="en-US" altLang="zh-CN"/>
              <a:t>Closing</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Questionnaires</a:t>
            </a:r>
            <a:endParaRPr lang="en-US" altLang="zh-CN"/>
          </a:p>
        </p:txBody>
      </p:sp>
      <p:sp>
        <p:nvSpPr>
          <p:cNvPr id="3" name="内容占位符 2"/>
          <p:cNvSpPr>
            <a:spLocks noGrp="1"/>
          </p:cNvSpPr>
          <p:nvPr>
            <p:ph idx="1"/>
          </p:nvPr>
        </p:nvSpPr>
        <p:spPr/>
        <p:txBody>
          <a:bodyPr/>
          <a:p>
            <a:r>
              <a:rPr lang="en-US" altLang="zh-CN"/>
              <a:t>more data can be collected</a:t>
            </a:r>
            <a:endParaRPr lang="en-US" altLang="zh-CN"/>
          </a:p>
          <a:p>
            <a:r>
              <a:rPr lang="en-US" altLang="zh-CN"/>
              <a:t>remotely or asynchronously</a:t>
            </a:r>
            <a:endParaRPr lang="en-US" altLang="zh-CN"/>
          </a:p>
          <a:p>
            <a:r>
              <a:rPr lang="en-US" altLang="zh-CN" u="sng"/>
              <a:t>collaborated with other methods</a:t>
            </a:r>
            <a:endParaRPr lang="en-US" altLang="zh-CN"/>
          </a:p>
          <a:p>
            <a:r>
              <a:rPr lang="en-US" altLang="zh-CN"/>
              <a:t>diff bet Q and interview:</a:t>
            </a:r>
            <a:endParaRPr lang="en-US" altLang="zh-CN"/>
          </a:p>
          <a:p>
            <a:pPr lvl="1"/>
            <a:r>
              <a:rPr lang="en-US" altLang="zh-CN"/>
              <a:t>the motivation of the respondent to answer</a:t>
            </a:r>
            <a:endParaRPr lang="en-US" altLang="zh-CN"/>
          </a:p>
          <a:p>
            <a:pPr lvl="1"/>
            <a:r>
              <a:rPr lang="en-US" altLang="zh-CN"/>
              <a:t> the interviewer is not available to explain the Q of questionnaires</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Questionnaire</a:t>
            </a:r>
            <a:r>
              <a:rPr lang="en-US" altLang="zh-CN"/>
              <a:t>s--</a:t>
            </a:r>
            <a:r>
              <a:rPr lang="zh-CN" altLang="en-US"/>
              <a:t>Questionnaire Structure</a:t>
            </a:r>
            <a:endParaRPr lang="zh-CN" altLang="en-US"/>
          </a:p>
        </p:txBody>
      </p:sp>
      <p:sp>
        <p:nvSpPr>
          <p:cNvPr id="3" name="内容占位符 2"/>
          <p:cNvSpPr>
            <a:spLocks noGrp="1"/>
          </p:cNvSpPr>
          <p:nvPr>
            <p:ph idx="1"/>
          </p:nvPr>
        </p:nvSpPr>
        <p:spPr/>
        <p:txBody>
          <a:bodyPr/>
          <a:p>
            <a:r>
              <a:rPr lang="en-US" altLang="zh-CN"/>
              <a:t>start by basic demographc information(gender,age,place of birth)</a:t>
            </a:r>
            <a:endParaRPr lang="en-US" altLang="zh-CN"/>
          </a:p>
          <a:p>
            <a:r>
              <a:rPr lang="en-US" altLang="zh-CN"/>
              <a:t>details of relevant experience</a:t>
            </a:r>
            <a:endParaRPr lang="en-US" altLang="zh-CN"/>
          </a:p>
          <a:p>
            <a:r>
              <a:rPr lang="en-US" altLang="zh-CN"/>
              <a:t>a checklist:</a:t>
            </a:r>
            <a:endParaRPr lang="en-US" altLang="zh-CN"/>
          </a:p>
          <a:p>
            <a:pPr lvl="1"/>
            <a:r>
              <a:rPr lang="en-US" altLang="zh-CN"/>
              <a:t> the ordering of questions</a:t>
            </a:r>
            <a:endParaRPr lang="en-US" altLang="zh-CN"/>
          </a:p>
          <a:p>
            <a:pPr lvl="1"/>
            <a:r>
              <a:rPr lang="en-US" altLang="zh-CN"/>
              <a:t> clear instructions</a:t>
            </a:r>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Questionnaire</a:t>
            </a:r>
            <a:r>
              <a:rPr lang="en-US" altLang="zh-CN">
                <a:sym typeface="+mn-ea"/>
              </a:rPr>
              <a:t>s--Question and Response Format</a:t>
            </a:r>
            <a:endParaRPr lang="en-US" altLang="zh-CN">
              <a:sym typeface="+mn-ea"/>
            </a:endParaRPr>
          </a:p>
        </p:txBody>
      </p:sp>
      <p:sp>
        <p:nvSpPr>
          <p:cNvPr id="3" name="内容占位符 2"/>
          <p:cNvSpPr>
            <a:spLocks noGrp="1"/>
          </p:cNvSpPr>
          <p:nvPr>
            <p:ph idx="1"/>
          </p:nvPr>
        </p:nvSpPr>
        <p:spPr/>
        <p:txBody>
          <a:bodyPr/>
          <a:p>
            <a:r>
              <a:rPr lang="en-US" altLang="zh-CN"/>
              <a:t>Some commonly used formats:</a:t>
            </a:r>
            <a:endParaRPr lang="en-US" altLang="zh-CN"/>
          </a:p>
          <a:p>
            <a:pPr lvl="1"/>
            <a:r>
              <a:rPr lang="en-US" altLang="zh-CN"/>
              <a:t>Check Boxes and Ranges</a:t>
            </a:r>
            <a:endParaRPr lang="en-US" altLang="zh-CN"/>
          </a:p>
          <a:p>
            <a:pPr lvl="2"/>
            <a:r>
              <a:rPr lang="en-US" altLang="zh-CN"/>
              <a:t>eg. age</a:t>
            </a:r>
            <a:endParaRPr lang="en-US" altLang="zh-CN"/>
          </a:p>
          <a:p>
            <a:pPr lvl="1"/>
            <a:r>
              <a:rPr lang="en-US" altLang="zh-CN" sz="2400"/>
              <a:t>Rating Scales:</a:t>
            </a:r>
            <a:endParaRPr lang="en-US" altLang="zh-CN" sz="2400"/>
          </a:p>
          <a:p>
            <a:pPr lvl="2"/>
            <a:r>
              <a:rPr lang="en-US" altLang="zh-CN" sz="2000"/>
              <a:t>Likert Scales</a:t>
            </a:r>
            <a:endParaRPr lang="en-US" altLang="zh-CN" sz="2000"/>
          </a:p>
          <a:p>
            <a:pPr lvl="2"/>
            <a:r>
              <a:rPr lang="en-US" altLang="zh-CN"/>
              <a:t>Semantic Differential Scales</a:t>
            </a:r>
            <a:endParaRPr lang="en-US" altLang="zh-CN" sz="2000"/>
          </a:p>
          <a:p>
            <a:pPr lvl="2"/>
            <a:r>
              <a:rPr lang="en-US" altLang="zh-CN" sz="2000"/>
              <a:t>eg:</a:t>
            </a:r>
            <a:endParaRPr lang="en-US" altLang="zh-CN"/>
          </a:p>
          <a:p>
            <a:pPr lvl="2"/>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Questionnaire</a:t>
            </a:r>
            <a:r>
              <a:rPr lang="en-US" altLang="zh-CN">
                <a:sym typeface="+mn-ea"/>
              </a:rPr>
              <a:t>s--Question and Response Format</a:t>
            </a:r>
            <a:endParaRPr lang="en-US" altLang="zh-CN">
              <a:sym typeface="+mn-ea"/>
            </a:endParaRPr>
          </a:p>
        </p:txBody>
      </p:sp>
      <p:sp>
        <p:nvSpPr>
          <p:cNvPr id="3" name="内容占位符 2"/>
          <p:cNvSpPr>
            <a:spLocks noGrp="1"/>
          </p:cNvSpPr>
          <p:nvPr>
            <p:ph idx="1"/>
          </p:nvPr>
        </p:nvSpPr>
        <p:spPr/>
        <p:txBody>
          <a:bodyPr/>
          <a:p>
            <a:pPr lvl="0"/>
            <a:r>
              <a:rPr lang="en-US" altLang="zh-CN"/>
              <a:t>Likert Scale</a:t>
            </a:r>
            <a:endParaRPr lang="en-US" altLang="zh-CN"/>
          </a:p>
          <a:p>
            <a:pPr lvl="0"/>
            <a:endParaRPr lang="en-US" altLang="zh-CN"/>
          </a:p>
          <a:p>
            <a:pPr lvl="0"/>
            <a:endParaRPr lang="en-US" altLang="zh-CN"/>
          </a:p>
          <a:p>
            <a:pPr lvl="0"/>
            <a:endParaRPr lang="en-US" altLang="zh-CN"/>
          </a:p>
          <a:p>
            <a:pPr marL="0" lvl="2"/>
            <a:r>
              <a:rPr lang="en-US" altLang="zh-CN" sz="2800">
                <a:sym typeface="+mn-ea"/>
              </a:rPr>
              <a:t>Semantic Differential Scales</a:t>
            </a:r>
            <a:endParaRPr lang="en-US" altLang="zh-CN" sz="2800"/>
          </a:p>
          <a:p>
            <a:pPr lvl="0"/>
            <a:endParaRPr lang="en-US" altLang="zh-CN"/>
          </a:p>
          <a:p>
            <a:pPr lvl="0"/>
            <a:endParaRPr lang="en-US" altLang="zh-CN"/>
          </a:p>
        </p:txBody>
      </p:sp>
      <p:pic>
        <p:nvPicPr>
          <p:cNvPr id="4" name="图片 3"/>
          <p:cNvPicPr>
            <a:picLocks noChangeAspect="1"/>
          </p:cNvPicPr>
          <p:nvPr>
            <p:custDataLst>
              <p:tags r:id="rId1"/>
            </p:custDataLst>
          </p:nvPr>
        </p:nvPicPr>
        <p:blipFill>
          <a:blip r:embed="rId2"/>
          <a:stretch>
            <a:fillRect/>
          </a:stretch>
        </p:blipFill>
        <p:spPr>
          <a:xfrm>
            <a:off x="1746250" y="2269490"/>
            <a:ext cx="8557260" cy="150876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746250" y="4356735"/>
            <a:ext cx="5471160" cy="19659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Questionnaire</a:t>
            </a:r>
            <a:r>
              <a:rPr lang="en-US" altLang="zh-CN">
                <a:sym typeface="+mn-ea"/>
              </a:rPr>
              <a:t>s--Question and Response Format</a:t>
            </a:r>
            <a:endParaRPr lang="en-US" altLang="zh-CN">
              <a:sym typeface="+mn-ea"/>
            </a:endParaRPr>
          </a:p>
        </p:txBody>
      </p:sp>
      <p:sp>
        <p:nvSpPr>
          <p:cNvPr id="3" name="内容占位符 2"/>
          <p:cNvSpPr>
            <a:spLocks noGrp="1"/>
          </p:cNvSpPr>
          <p:nvPr>
            <p:ph idx="1"/>
          </p:nvPr>
        </p:nvSpPr>
        <p:spPr/>
        <p:txBody>
          <a:bodyPr/>
          <a:p>
            <a:pPr lvl="0"/>
            <a:r>
              <a:rPr lang="en-US" altLang="zh-CN"/>
              <a:t>Check Boxes&amp;Likert Scale&amp;</a:t>
            </a:r>
            <a:r>
              <a:rPr lang="en-US" altLang="zh-CN" sz="2800">
                <a:sym typeface="+mn-ea"/>
              </a:rPr>
              <a:t>Semantic Differential Scales</a:t>
            </a:r>
            <a:endParaRPr lang="en-US" altLang="zh-CN" sz="2800"/>
          </a:p>
          <a:p>
            <a:pPr lvl="0"/>
            <a:endParaRPr lang="en-US" altLang="zh-CN"/>
          </a:p>
          <a:p>
            <a:pPr lvl="0"/>
            <a:endParaRPr lang="en-US" altLang="zh-CN"/>
          </a:p>
        </p:txBody>
      </p:sp>
      <p:pic>
        <p:nvPicPr>
          <p:cNvPr id="6" name="图片 5"/>
          <p:cNvPicPr>
            <a:picLocks noChangeAspect="1"/>
          </p:cNvPicPr>
          <p:nvPr>
            <p:custDataLst>
              <p:tags r:id="rId1"/>
            </p:custDataLst>
          </p:nvPr>
        </p:nvPicPr>
        <p:blipFill>
          <a:blip r:embed="rId2"/>
          <a:stretch>
            <a:fillRect/>
          </a:stretch>
        </p:blipFill>
        <p:spPr>
          <a:xfrm>
            <a:off x="2038350" y="2496185"/>
            <a:ext cx="7306310" cy="36810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Observation</a:t>
            </a:r>
            <a:endParaRPr lang="en-US" altLang="zh-CN"/>
          </a:p>
        </p:txBody>
      </p:sp>
      <p:sp>
        <p:nvSpPr>
          <p:cNvPr id="3" name="内容占位符 2"/>
          <p:cNvSpPr>
            <a:spLocks noGrp="1"/>
          </p:cNvSpPr>
          <p:nvPr>
            <p:ph idx="1"/>
          </p:nvPr>
        </p:nvSpPr>
        <p:spPr/>
        <p:txBody>
          <a:bodyPr/>
          <a:p>
            <a:pPr lvl="0"/>
            <a:r>
              <a:rPr lang="zh-CN" altLang="en-US"/>
              <a:t>help fill in details</a:t>
            </a:r>
            <a:endParaRPr lang="zh-CN" altLang="en-US"/>
          </a:p>
          <a:p>
            <a:pPr lvl="0"/>
            <a:r>
              <a:rPr lang="en-US" altLang="zh-CN"/>
              <a:t>Direct observation in the field,Direct observation in a controlled environment,Indirect observation</a:t>
            </a: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Choosing and Combining Techniques</a:t>
            </a:r>
            <a:endParaRPr lang="en-US" altLang="zh-CN"/>
          </a:p>
        </p:txBody>
      </p:sp>
      <p:pic>
        <p:nvPicPr>
          <p:cNvPr id="6" name="内容占位符 5"/>
          <p:cNvPicPr>
            <a:picLocks noChangeAspect="1"/>
          </p:cNvPicPr>
          <p:nvPr>
            <p:ph idx="1"/>
            <p:custDataLst>
              <p:tags r:id="rId1"/>
            </p:custDataLst>
          </p:nvPr>
        </p:nvPicPr>
        <p:blipFill>
          <a:blip r:embed="rId2"/>
          <a:stretch>
            <a:fillRect/>
          </a:stretch>
        </p:blipFill>
        <p:spPr>
          <a:xfrm>
            <a:off x="912495" y="1993900"/>
            <a:ext cx="4771390" cy="301244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6108065" y="2202180"/>
            <a:ext cx="5245735" cy="2804160"/>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6108065" y="1992630"/>
            <a:ext cx="5245100" cy="2463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839720"/>
            <a:ext cx="10515600" cy="1325563"/>
          </a:xfrm>
        </p:spPr>
        <p:txBody>
          <a:bodyPr/>
          <a:p>
            <a:pPr algn="ctr"/>
            <a:r>
              <a:rPr lang="en-US" altLang="zh-CN"/>
              <a:t>Some ideas</a:t>
            </a:r>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DATA GATHERING</a:t>
            </a:r>
            <a:r>
              <a:rPr lang="en-US" altLang="zh-CN">
                <a:sym typeface="+mn-ea"/>
              </a:rPr>
              <a:t>:</a:t>
            </a:r>
            <a:r>
              <a:rPr lang="en-US" altLang="zh-CN"/>
              <a:t>Introduction</a:t>
            </a:r>
            <a:endParaRPr lang="en-US" altLang="zh-CN"/>
          </a:p>
        </p:txBody>
      </p:sp>
      <p:sp>
        <p:nvSpPr>
          <p:cNvPr id="3" name="内容占位符 2"/>
          <p:cNvSpPr>
            <a:spLocks noGrp="1"/>
          </p:cNvSpPr>
          <p:nvPr>
            <p:ph idx="1"/>
          </p:nvPr>
        </p:nvSpPr>
        <p:spPr/>
        <p:txBody>
          <a:bodyPr/>
          <a:p>
            <a:r>
              <a:rPr lang="en-US" altLang="zh-CN"/>
              <a:t>Data can be </a:t>
            </a:r>
            <a:r>
              <a:rPr lang="en-US" altLang="zh-CN" u="sng"/>
              <a:t>quantitative</a:t>
            </a:r>
            <a:r>
              <a:rPr lang="en-US" altLang="zh-CN"/>
              <a:t> or </a:t>
            </a:r>
            <a:r>
              <a:rPr lang="en-US" altLang="zh-CN" u="sng"/>
              <a:t>qualitative</a:t>
            </a:r>
            <a:r>
              <a:rPr lang="en-US" altLang="zh-CN"/>
              <a:t>.</a:t>
            </a:r>
            <a:endParaRPr lang="en-US" altLang="zh-CN"/>
          </a:p>
          <a:p>
            <a:r>
              <a:rPr lang="en-US" altLang="zh-CN"/>
              <a:t>Three main techniques are introduced:</a:t>
            </a:r>
            <a:endParaRPr lang="en-US" altLang="zh-CN"/>
          </a:p>
          <a:p>
            <a:pPr lvl="1"/>
            <a:r>
              <a:rPr lang="en-US" altLang="zh-CN"/>
              <a:t>INTERVIEWS</a:t>
            </a:r>
            <a:endParaRPr lang="en-US" altLang="zh-CN"/>
          </a:p>
          <a:p>
            <a:pPr lvl="1"/>
            <a:r>
              <a:rPr lang="en-US" altLang="zh-CN"/>
              <a:t>QUESNTIONNAIRES</a:t>
            </a:r>
            <a:endParaRPr lang="en-US" altLang="zh-CN"/>
          </a:p>
          <a:p>
            <a:pPr lvl="1"/>
            <a:r>
              <a:rPr lang="en-US" altLang="zh-CN"/>
              <a:t>OBSERVATION</a:t>
            </a:r>
            <a:endParaRPr lang="en-US" altLang="zh-CN"/>
          </a:p>
          <a:p>
            <a:pPr lvl="0"/>
            <a:r>
              <a:rPr lang="en-US" altLang="zh-CN"/>
              <a:t>How to gather our data?</a:t>
            </a:r>
            <a:endParaRPr lang="en-US" altLang="zh-CN"/>
          </a:p>
          <a:p>
            <a:pPr lvl="1"/>
            <a:r>
              <a:rPr lang="en-US" altLang="zh-CN">
                <a:highlight>
                  <a:srgbClr val="FFFF00"/>
                </a:highlight>
              </a:rPr>
              <a:t>quantitative</a:t>
            </a:r>
            <a:r>
              <a:rPr lang="en-US" altLang="zh-CN"/>
              <a:t>? -- interviews and questionnaires?</a:t>
            </a:r>
            <a:endParaRPr lang="en-US" altLang="zh-CN"/>
          </a:p>
          <a:p>
            <a:pPr lvl="1"/>
            <a:r>
              <a:rPr lang="en-US" altLang="zh-CN">
                <a:highlight>
                  <a:srgbClr val="FFFF00"/>
                </a:highlight>
              </a:rPr>
              <a:t>qualitative</a:t>
            </a:r>
            <a:r>
              <a:rPr lang="en-US" altLang="zh-CN"/>
              <a:t>??</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Five Key Issues</a:t>
            </a:r>
            <a:r>
              <a:rPr lang="en-US" altLang="zh-CN">
                <a:sym typeface="+mn-ea"/>
              </a:rPr>
              <a:t>:Identifying Participants</a:t>
            </a:r>
            <a:endParaRPr lang="en-US" altLang="zh-CN">
              <a:sym typeface="+mn-ea"/>
            </a:endParaRPr>
          </a:p>
        </p:txBody>
      </p:sp>
      <p:sp>
        <p:nvSpPr>
          <p:cNvPr id="3" name="内容占位符 2"/>
          <p:cNvSpPr>
            <a:spLocks noGrp="1"/>
          </p:cNvSpPr>
          <p:nvPr>
            <p:ph idx="1"/>
          </p:nvPr>
        </p:nvSpPr>
        <p:spPr/>
        <p:txBody>
          <a:bodyPr/>
          <a:p>
            <a:r>
              <a:rPr lang="zh-CN" altLang="en-US"/>
              <a:t>sampling</a:t>
            </a:r>
            <a:r>
              <a:rPr lang="en-US" altLang="zh-CN"/>
              <a:t>:</a:t>
            </a:r>
            <a:endParaRPr lang="en-US" altLang="zh-CN"/>
          </a:p>
          <a:p>
            <a:pPr lvl="1"/>
            <a:r>
              <a:rPr lang="en-US" altLang="zh-CN" b="1"/>
              <a:t>all members</a:t>
            </a:r>
            <a:r>
              <a:rPr lang="en-US" altLang="zh-CN"/>
              <a:t> of the target population are accessible is called saturation sampling</a:t>
            </a:r>
            <a:endParaRPr lang="en-US" altLang="zh-CN"/>
          </a:p>
          <a:p>
            <a:pPr lvl="1"/>
            <a:r>
              <a:rPr lang="en-US" altLang="zh-CN"/>
              <a:t>only </a:t>
            </a:r>
            <a:r>
              <a:rPr lang="en-US" altLang="zh-CN" b="1"/>
              <a:t>a portion of</a:t>
            </a:r>
            <a:r>
              <a:rPr lang="en-US" altLang="zh-CN"/>
              <a:t> population involved in:</a:t>
            </a:r>
            <a:endParaRPr lang="en-US" altLang="zh-CN"/>
          </a:p>
          <a:p>
            <a:pPr lvl="2"/>
            <a:r>
              <a:rPr lang="en-US" altLang="zh-CN"/>
              <a:t>probability sampling:</a:t>
            </a:r>
            <a:endParaRPr lang="en-US" altLang="zh-CN"/>
          </a:p>
          <a:p>
            <a:pPr lvl="3"/>
            <a:r>
              <a:rPr lang="en-US" altLang="zh-CN"/>
              <a:t>simple random sampling or stratified sampling(</a:t>
            </a:r>
            <a:r>
              <a:rPr lang="zh-CN" altLang="en-US"/>
              <a:t>简单随机抽样</a:t>
            </a:r>
            <a:r>
              <a:rPr lang="en-US" altLang="zh-CN"/>
              <a:t>/</a:t>
            </a:r>
            <a:r>
              <a:rPr lang="zh-CN" altLang="en-US"/>
              <a:t>分层抽样</a:t>
            </a:r>
            <a:r>
              <a:rPr lang="en-US" altLang="zh-CN"/>
              <a:t>)</a:t>
            </a:r>
            <a:endParaRPr lang="en-US" altLang="zh-CN"/>
          </a:p>
          <a:p>
            <a:pPr lvl="2"/>
            <a:r>
              <a:rPr lang="en-US" altLang="zh-CN"/>
              <a:t>nonprobability sampling</a:t>
            </a:r>
            <a:endParaRPr lang="en-US" altLang="zh-CN"/>
          </a:p>
          <a:p>
            <a:pPr lvl="3"/>
            <a:r>
              <a:rPr lang="en-US" altLang="zh-CN"/>
              <a:t>convenience sampling , </a:t>
            </a:r>
            <a:r>
              <a:rPr lang="en-US" altLang="zh-CN">
                <a:highlight>
                  <a:srgbClr val="FFFF00"/>
                </a:highlight>
              </a:rPr>
              <a:t>snowball sampling</a:t>
            </a:r>
            <a:r>
              <a:rPr lang="en-US" altLang="zh-CN"/>
              <a:t> or volunteer panels</a:t>
            </a:r>
            <a:endParaRPr lang="en-US" altLang="zh-CN"/>
          </a:p>
          <a:p>
            <a:pPr marL="0" lvl="1"/>
            <a:r>
              <a:rPr lang="en-US" altLang="zh-CN" sz="2800"/>
              <a:t>robust or not? </a:t>
            </a:r>
            <a:r>
              <a:rPr lang="en-US" altLang="zh-CN" sz="2800">
                <a:sym typeface="+mn-ea"/>
              </a:rPr>
              <a:t>generalizing to </a:t>
            </a:r>
            <a:r>
              <a:rPr lang="en-US" altLang="zh-CN" sz="2800" b="1">
                <a:sym typeface="+mn-ea"/>
              </a:rPr>
              <a:t>the whole population</a:t>
            </a:r>
            <a:r>
              <a:rPr lang="en-US" altLang="zh-CN" sz="2800"/>
              <a:t> ?</a:t>
            </a:r>
            <a:endParaRPr lang="zh-CN" altLang="en-US">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Interviews</a:t>
            </a:r>
            <a:endParaRPr lang="en-US" altLang="zh-CN"/>
          </a:p>
        </p:txBody>
      </p:sp>
      <p:sp>
        <p:nvSpPr>
          <p:cNvPr id="3" name="内容占位符 2"/>
          <p:cNvSpPr>
            <a:spLocks noGrp="1"/>
          </p:cNvSpPr>
          <p:nvPr>
            <p:ph idx="1"/>
          </p:nvPr>
        </p:nvSpPr>
        <p:spPr/>
        <p:txBody>
          <a:bodyPr/>
          <a:p>
            <a:pPr lvl="0"/>
            <a:r>
              <a:rPr lang="en-US" altLang="zh-CN" strike="sngStrike"/>
              <a:t>open-ended/unstructured?</a:t>
            </a:r>
            <a:endParaRPr lang="en-US" altLang="zh-CN" strike="sngStrike"/>
          </a:p>
          <a:p>
            <a:pPr lvl="0"/>
            <a:r>
              <a:rPr lang="en-US" altLang="zh-CN"/>
              <a:t>structured?</a:t>
            </a:r>
            <a:endParaRPr lang="en-US" altLang="zh-CN"/>
          </a:p>
          <a:p>
            <a:pPr lvl="0"/>
            <a:r>
              <a:rPr lang="en-US" altLang="zh-CN"/>
              <a:t>semi-structured?</a:t>
            </a:r>
            <a:endParaRPr lang="en-US" altLang="zh-CN"/>
          </a:p>
          <a:p>
            <a:pPr lvl="0"/>
            <a:r>
              <a:rPr lang="en-US" altLang="zh-CN"/>
              <a:t>group interviews,also called focus group?</a:t>
            </a:r>
            <a:endParaRPr lang="en-US" altLang="zh-CN"/>
          </a:p>
          <a:p>
            <a:pPr marL="0" lvl="0" indent="0">
              <a:buNone/>
            </a:pPr>
            <a:endParaRPr lang="en-US" altLang="zh-CN"/>
          </a:p>
          <a:p>
            <a:pPr marL="0" lvl="0" indent="0">
              <a:buNone/>
            </a:pPr>
            <a:r>
              <a:rPr lang="en-US" altLang="zh-CN"/>
              <a:t>semi-structured interview with open-ended and close-ended interview questions,group interviews.</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Questionnaire</a:t>
            </a:r>
            <a:r>
              <a:rPr lang="en-US" altLang="zh-CN">
                <a:sym typeface="+mn-ea"/>
              </a:rPr>
              <a:t>s</a:t>
            </a:r>
            <a:endParaRPr lang="zh-CN" altLang="en-US"/>
          </a:p>
        </p:txBody>
      </p:sp>
      <p:pic>
        <p:nvPicPr>
          <p:cNvPr id="5" name="内容占位符 4"/>
          <p:cNvPicPr>
            <a:picLocks noChangeAspect="1"/>
          </p:cNvPicPr>
          <p:nvPr>
            <p:ph idx="1"/>
            <p:custDataLst>
              <p:tags r:id="rId1"/>
            </p:custDataLst>
          </p:nvPr>
        </p:nvPicPr>
        <p:blipFill>
          <a:blip r:embed="rId2"/>
          <a:stretch>
            <a:fillRect/>
          </a:stretch>
        </p:blipFill>
        <p:spPr>
          <a:xfrm>
            <a:off x="838200" y="1488440"/>
            <a:ext cx="4780280" cy="325882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6249670" y="1438883"/>
            <a:ext cx="5104128" cy="3308605"/>
          </a:xfrm>
          <a:prstGeom prst="rect">
            <a:avLst/>
          </a:prstGeom>
        </p:spPr>
      </p:pic>
      <p:sp>
        <p:nvSpPr>
          <p:cNvPr id="6" name="文本框 5"/>
          <p:cNvSpPr txBox="1"/>
          <p:nvPr/>
        </p:nvSpPr>
        <p:spPr>
          <a:xfrm>
            <a:off x="1115060" y="5107305"/>
            <a:ext cx="9409430" cy="1630045"/>
          </a:xfrm>
          <a:prstGeom prst="rect">
            <a:avLst/>
          </a:prstGeom>
          <a:noFill/>
        </p:spPr>
        <p:txBody>
          <a:bodyPr wrap="square" rtlCol="0">
            <a:spAutoFit/>
          </a:bodyPr>
          <a:p>
            <a:pPr marL="342900" indent="-342900">
              <a:buFont typeface="Arial" panose="020B0604020202020204" pitchFamily="34" charset="0"/>
              <a:buChar char="•"/>
            </a:pPr>
            <a:r>
              <a:rPr lang="en-US" altLang="zh-CN" sz="2000"/>
              <a:t>how to </a:t>
            </a:r>
            <a:r>
              <a:rPr lang="en-US" altLang="zh-CN" sz="2000">
                <a:highlight>
                  <a:srgbClr val="FFFF00"/>
                </a:highlight>
              </a:rPr>
              <a:t>collaborate </a:t>
            </a:r>
            <a:r>
              <a:rPr lang="en-US" altLang="zh-CN" sz="2000"/>
              <a:t>with </a:t>
            </a:r>
            <a:r>
              <a:rPr lang="en-US" altLang="zh-CN" sz="2000">
                <a:highlight>
                  <a:srgbClr val="FFFF00"/>
                </a:highlight>
              </a:rPr>
              <a:t>interview</a:t>
            </a:r>
            <a:r>
              <a:rPr lang="en-US" altLang="zh-CN" sz="2000"/>
              <a:t>&amp;observe?</a:t>
            </a:r>
            <a:endParaRPr lang="en-US" altLang="zh-CN" sz="2000"/>
          </a:p>
          <a:p>
            <a:pPr marL="342900" indent="-342900">
              <a:buFont typeface="Arial" panose="020B0604020202020204" pitchFamily="34" charset="0"/>
              <a:buChar char="•"/>
            </a:pPr>
            <a:r>
              <a:rPr lang="en-US" altLang="zh-CN" sz="2000">
                <a:sym typeface="+mn-ea"/>
              </a:rPr>
              <a:t>details of </a:t>
            </a:r>
            <a:r>
              <a:rPr lang="en-US" altLang="zh-CN" sz="2000">
                <a:highlight>
                  <a:srgbClr val="FFFF00"/>
                </a:highlight>
                <a:sym typeface="+mn-ea"/>
              </a:rPr>
              <a:t>relevant experience</a:t>
            </a:r>
            <a:r>
              <a:rPr lang="en-US" altLang="zh-CN" sz="2000">
                <a:sym typeface="+mn-ea"/>
              </a:rPr>
              <a:t>?</a:t>
            </a:r>
            <a:endParaRPr lang="en-US" altLang="zh-CN" sz="2000"/>
          </a:p>
          <a:p>
            <a:pPr marL="342900" indent="-342900">
              <a:buFont typeface="Arial" panose="020B0604020202020204" pitchFamily="34" charset="0"/>
              <a:buChar char="•"/>
            </a:pPr>
            <a:r>
              <a:rPr lang="en-US" altLang="zh-CN" sz="2000">
                <a:highlight>
                  <a:srgbClr val="FFFF00"/>
                </a:highlight>
              </a:rPr>
              <a:t>order</a:t>
            </a:r>
            <a:r>
              <a:rPr lang="en-US" altLang="zh-CN" sz="2000"/>
              <a:t>?</a:t>
            </a:r>
            <a:endParaRPr lang="en-US" altLang="zh-CN" sz="2000"/>
          </a:p>
          <a:p>
            <a:pPr marL="342900" indent="-342900">
              <a:buFont typeface="Arial" panose="020B0604020202020204" pitchFamily="34" charset="0"/>
              <a:buChar char="•"/>
            </a:pPr>
            <a:r>
              <a:rPr lang="en-US" altLang="zh-CN" sz="2000"/>
              <a:t>clear </a:t>
            </a:r>
            <a:r>
              <a:rPr lang="en-US" altLang="zh-CN" sz="2000">
                <a:highlight>
                  <a:srgbClr val="FFFF00"/>
                </a:highlight>
              </a:rPr>
              <a:t>instructions</a:t>
            </a:r>
            <a:r>
              <a:rPr lang="en-US" altLang="zh-CN" sz="2000"/>
              <a:t>?</a:t>
            </a:r>
            <a:endParaRPr lang="en-US" altLang="zh-CN" sz="2000"/>
          </a:p>
          <a:p>
            <a:pPr marL="342900" indent="-342900">
              <a:buFont typeface="Arial" panose="020B0604020202020204" pitchFamily="34" charset="0"/>
              <a:buChar char="•"/>
            </a:pPr>
            <a:r>
              <a:rPr lang="en-US" altLang="zh-CN" sz="2000"/>
              <a:t>which </a:t>
            </a:r>
            <a:r>
              <a:rPr lang="en-US" altLang="zh-CN" sz="2000">
                <a:highlight>
                  <a:srgbClr val="FFFF00"/>
                </a:highlight>
              </a:rPr>
              <a:t>format </a:t>
            </a:r>
            <a:r>
              <a:rPr lang="en-US" altLang="zh-CN" sz="2000"/>
              <a:t>to choose?</a:t>
            </a:r>
            <a:endParaRPr lang="en-US" altLang="zh-CN" sz="200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COMMONDATA" val="eyJoZGlkIjoiNjYwMTEyMGZiZjU4Njg5YjBlMDhjYzRjMTYyMWIxMGMifQ=="/>
  <p:tag name="KSO_WPP_MARK_KEY" val="9ee9ffa7-3c94-4d49-ae2b-2a54ea130ac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7832</Words>
  <Application>WPS 演示</Application>
  <PresentationFormat>宽屏</PresentationFormat>
  <Paragraphs>274</Paragraphs>
  <Slides>34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Arial</vt:lpstr>
      <vt:lpstr>宋体</vt:lpstr>
      <vt:lpstr>Wingdings</vt:lpstr>
      <vt:lpstr>Calibri</vt:lpstr>
      <vt:lpstr>微软雅黑</vt:lpstr>
      <vt:lpstr>Arial Unicode MS</vt:lpstr>
      <vt:lpstr>Wingdings</vt:lpstr>
      <vt:lpstr>Office 主题</vt:lpstr>
      <vt:lpstr>DATA GATHERING</vt:lpstr>
      <vt:lpstr>DATA GATHERING</vt:lpstr>
      <vt:lpstr>DATA GATHERING:Introduction</vt:lpstr>
      <vt:lpstr>DATA GATHERING:Introduction</vt:lpstr>
      <vt:lpstr>Five Key Issues</vt:lpstr>
      <vt:lpstr>Five Key Issues:Setting Goals</vt:lpstr>
      <vt:lpstr>Five Key Issues:Identifying Participants</vt:lpstr>
      <vt:lpstr>Five Key Issues:Identifying Participants</vt:lpstr>
      <vt:lpstr>Five Key Issues:Relationship with Participants</vt:lpstr>
      <vt:lpstr>Five Key Issues:Relationship with Participants</vt:lpstr>
      <vt:lpstr>Five Key Issues:Triangulation</vt:lpstr>
      <vt:lpstr>Five Key Issues:Pilot Studies</vt:lpstr>
      <vt:lpstr>Data Recording</vt:lpstr>
      <vt:lpstr>Activity 8-1 </vt:lpstr>
      <vt:lpstr>Interviews--conversation with a purpose</vt:lpstr>
      <vt:lpstr>Interviews--Unstructured Interviews</vt:lpstr>
      <vt:lpstr>Interviews--Structured Interviews</vt:lpstr>
      <vt:lpstr>Interviews--Semi-structured Interviews</vt:lpstr>
      <vt:lpstr>Interviews--Semi-structured Interviews</vt:lpstr>
      <vt:lpstr>Interviews--Focus Groups</vt:lpstr>
      <vt:lpstr>Interviews--Planning and Conducting an Interview</vt:lpstr>
      <vt:lpstr>Interviews--Running the Interview</vt:lpstr>
      <vt:lpstr>Questionnaires</vt:lpstr>
      <vt:lpstr>Questionnaires--Questionnaire Structure</vt:lpstr>
      <vt:lpstr>Questionnaires--Question and Response Format</vt:lpstr>
      <vt:lpstr>Questionnaires--Question and Response Format</vt:lpstr>
      <vt:lpstr>Questionnaires--Question and Response Format</vt:lpstr>
      <vt:lpstr>Observation--Direct Observation in the Field</vt:lpstr>
      <vt:lpstr>Observation--Direct Observation in the Field</vt:lpstr>
      <vt:lpstr>PowerPoint 演示文稿</vt:lpstr>
      <vt:lpstr>DATA GATHERING:Introduction</vt:lpstr>
      <vt:lpstr>Five Key Issues:Identifying Participants</vt:lpstr>
      <vt:lpstr>Interviews--conversation with a purpose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赵晟</dc:creator>
  <cp:lastModifiedBy>2021012336</cp:lastModifiedBy>
  <cp:revision>146</cp:revision>
  <dcterms:created xsi:type="dcterms:W3CDTF">2023-10-26T11:28:00Z</dcterms:created>
  <dcterms:modified xsi:type="dcterms:W3CDTF">2023-10-28T11:15:10Z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EEF0D1C7A4DE45B7897FEA72C0953936_12</vt:lpwstr>
  </property>
  <property fmtid="{D5CDD505-2E9C-101B-9397-08002B2CF9AE}" pid="3" name="KSOProductBuildVer">
    <vt:lpwstr>2052-11.1.0.14309</vt:lpwstr>
  </property>
</Properties>
</file>