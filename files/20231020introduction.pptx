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71" r:id="rId14"/>
    <p:sldId id="269" r:id="rId15"/>
    <p:sldId id="272" r:id="rId16"/>
    <p:sldId id="273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5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Interaction Design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chap5 : </a:t>
            </a:r>
            <a:r>
              <a:rPr lang="zh-CN" altLang="en-US">
                <a:sym typeface="+mn-ea"/>
              </a:rPr>
              <a:t>SOCIAL INTERACTION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Objectives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social interaction</a:t>
            </a:r>
            <a:endParaRPr lang="en-US" altLang="zh-CN"/>
          </a:p>
          <a:p>
            <a:r>
              <a:rPr lang="en-US" altLang="zh-CN"/>
              <a:t>social mechanisms</a:t>
            </a:r>
            <a:endParaRPr lang="en-US" altLang="zh-CN"/>
          </a:p>
          <a:p>
            <a:r>
              <a:rPr lang="en-US" altLang="zh-CN"/>
              <a:t>new technologies that facilitate collaboration</a:t>
            </a:r>
            <a:endParaRPr lang="en-US" altLang="zh-CN"/>
          </a:p>
          <a:p>
            <a:r>
              <a:rPr lang="en-US" altLang="zh-CN"/>
              <a:t>how social media changed our lives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Introduction&amp;Being social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People are inherently social</a:t>
            </a:r>
            <a:r>
              <a:rPr lang="en-US" altLang="zh-CN"/>
              <a:t>,A fundamental aspect of everyday life is being social</a:t>
            </a:r>
            <a:endParaRPr lang="en-US" altLang="zh-CN"/>
          </a:p>
          <a:p>
            <a:r>
              <a:rPr lang="en-US" altLang="zh-CN"/>
              <a:t>While face-to-face conversations remain central , the use of social media has dramatically increased</a:t>
            </a:r>
            <a:endParaRPr lang="en-US" altLang="zh-CN"/>
          </a:p>
          <a:p>
            <a:r>
              <a:rPr lang="en-US" altLang="zh-CN"/>
              <a:t>eg:adults have about 338 Facebook friends, have more than 1,000 connections in LinkedIn.</a:t>
            </a:r>
            <a:endParaRPr lang="en-US" altLang="zh-CN"/>
          </a:p>
          <a:p>
            <a:r>
              <a:rPr lang="en-US" altLang="zh-CN" i="1"/>
              <a:t>Key Q</a:t>
            </a:r>
            <a:r>
              <a:rPr lang="en-US" altLang="zh-CN"/>
              <a:t>:how it has affected people’s ability to connect, work, and interact with others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Introduction&amp;Being social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Immerse people in a virtual social world and have a negative impact on real-world social interactions.</a:t>
            </a:r>
            <a:endParaRPr lang="en-US" altLang="zh-CN"/>
          </a:p>
          <a:p>
            <a:r>
              <a:rPr lang="en-US" altLang="zh-CN"/>
              <a:t>Encourage people to put down their phones and engage in real-world communication</a:t>
            </a:r>
            <a:endParaRPr lang="en-US" altLang="zh-CN"/>
          </a:p>
          <a:p>
            <a:r>
              <a:rPr lang="en-US" altLang="zh-CN"/>
              <a:t>eg:</a:t>
            </a:r>
            <a:r>
              <a:rPr lang="en-US" altLang="zh-CN" i="1"/>
              <a:t>Amazon's Echo devices</a:t>
            </a:r>
            <a:r>
              <a:rPr lang="en-US" altLang="zh-CN"/>
              <a:t>:provide support for multiplayer games and activities, enabling multiple users to participate simultaneously and offering families the opportunity to play together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Activity1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Differences bet face-to-face communication&amp;mobile communication</a:t>
            </a:r>
            <a:endParaRPr lang="en-US" altLang="zh-CN"/>
          </a:p>
          <a:p>
            <a:pPr lvl="1"/>
            <a:r>
              <a:rPr lang="en-US" altLang="zh-CN"/>
              <a:t>f-t-f:unpredictabe,spontaneous, much intimacy through </a:t>
            </a:r>
            <a:r>
              <a:rPr lang="en-US" altLang="zh-CN"/>
              <a:t>eye contact,</a:t>
            </a:r>
            <a:r>
              <a:rPr lang="en-US" altLang="zh-CN" u="sng"/>
              <a:t>facial expressions</a:t>
            </a:r>
            <a:endParaRPr lang="en-US" altLang="zh-CN" u="sng"/>
          </a:p>
          <a:p>
            <a:pPr lvl="1"/>
            <a:r>
              <a:rPr lang="en-US" altLang="zh-CN"/>
              <a:t>texting:Asynchronous,Pre-meditated</a:t>
            </a:r>
            <a:endParaRPr lang="en-US" altLang="zh-CN"/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Emoticons</a:t>
            </a:r>
            <a:endParaRPr lang="en-US" altLang="zh-CN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compensation for nonverbal communications</a:t>
            </a:r>
            <a:endParaRPr lang="en-US" altLang="zh-CN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engaging&amp;enjoyable|awkward&amp;Embarrassing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Face-To-Face conversation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Talking:effortless but highly skilled</a:t>
            </a:r>
            <a:endParaRPr lang="en-US" altLang="zh-CN"/>
          </a:p>
          <a:p>
            <a:r>
              <a:rPr lang="en-US" altLang="zh-CN" i="1"/>
              <a:t>What makes up a conversation?</a:t>
            </a:r>
            <a:endParaRPr lang="en-US" altLang="zh-CN" i="1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how conversations start, progress, and finish</a:t>
            </a:r>
            <a:endParaRPr lang="en-US" altLang="zh-CN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how </a:t>
            </a:r>
            <a:r>
              <a:rPr lang="en-US" altLang="zh-CN" u="sng">
                <a:solidFill>
                  <a:schemeClr val="tx1"/>
                </a:solidFill>
              </a:rPr>
              <a:t>natural 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en-US" altLang="zh-CN" u="sng">
                <a:solidFill>
                  <a:schemeClr val="tx1"/>
                </a:solidFill>
              </a:rPr>
              <a:t>comfortable</a:t>
            </a:r>
            <a:r>
              <a:rPr lang="en-US" altLang="zh-CN">
                <a:solidFill>
                  <a:schemeClr val="tx1"/>
                </a:solidFill>
              </a:rPr>
              <a:t> to talk with digital agent</a:t>
            </a:r>
            <a:endParaRPr lang="en-US" altLang="zh-CN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mechanisms in a conventional conversation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Face-To-Face conversation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/>
            <a:r>
              <a:rPr lang="en-US" altLang="zh-CN"/>
              <a:t>Beginning/starting:</a:t>
            </a:r>
            <a:endParaRPr lang="en-US" altLang="zh-CN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greeting like:</a:t>
            </a:r>
            <a:endParaRPr lang="en-US" altLang="zh-CN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altLang="zh-CN" sz="2795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altLang="zh-CN" sz="2795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altLang="zh-CN" sz="2795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altLang="zh-CN" sz="2795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tech to improve chances of replying</a:t>
            </a:r>
            <a:endParaRPr lang="en-US" altLang="zh-CN" sz="2400">
              <a:solidFill>
                <a:schemeClr val="tx1"/>
              </a:solidFill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open para with “hi/hello”</a:t>
            </a:r>
            <a:endParaRPr lang="en-US" altLang="zh-CN">
              <a:solidFill>
                <a:schemeClr val="tx1"/>
              </a:solidFill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end with “thank u”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50945" y="2392680"/>
            <a:ext cx="4406265" cy="2072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Face-To-Face conversation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chemeClr val="tx1"/>
                </a:solidFill>
              </a:rPr>
              <a:t>Progressing:</a:t>
            </a:r>
            <a:endParaRPr lang="en-US" altLang="zh-CN" sz="2800">
              <a:solidFill>
                <a:schemeClr val="tx1"/>
              </a:solidFill>
            </a:endParaRP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three basic rules:</a:t>
            </a:r>
            <a:endParaRPr lang="en-US" altLang="zh-CN" sz="2400">
              <a:solidFill>
                <a:schemeClr val="tx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altLang="zh-CN" sz="2800">
              <a:solidFill>
                <a:schemeClr val="tx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altLang="zh-CN" sz="2800">
              <a:solidFill>
                <a:schemeClr val="tx1"/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endParaRPr lang="en-US" altLang="zh-CN" sz="2050">
              <a:solidFill>
                <a:schemeClr val="tx1"/>
              </a:solidFill>
            </a:endParaRP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 adjacency pairs</a:t>
            </a:r>
            <a:endParaRPr lang="en-US" altLang="zh-CN" sz="2400">
              <a:solidFill>
                <a:schemeClr val="tx1"/>
              </a:solidFill>
            </a:endParaRPr>
          </a:p>
          <a:p>
            <a:pPr lvl="2" indent="-228600" algn="l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sometimes embedded in each other</a:t>
            </a:r>
            <a:endParaRPr lang="en-US" altLang="zh-CN" sz="2000">
              <a:solidFill>
                <a:schemeClr val="tx1"/>
              </a:solidFill>
            </a:endParaRPr>
          </a:p>
          <a:p>
            <a:pPr lvl="2" indent="-228600" algn="l">
              <a:buFont typeface="Arial" panose="020B0604020202020204" pitchFamily="34" charset="0"/>
              <a:buChar char="•"/>
            </a:pPr>
            <a:endParaRPr lang="en-US" altLang="zh-CN" sz="20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30375" y="2827020"/>
            <a:ext cx="9014460" cy="12039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30375" y="4803775"/>
            <a:ext cx="4994910" cy="1250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Face-To-Face conversation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 algn="l"/>
            <a:r>
              <a:rPr lang="en-US" altLang="zh-CN" sz="2800">
                <a:sym typeface="+mn-ea"/>
              </a:rPr>
              <a:t>Finishing</a:t>
            </a:r>
            <a:endParaRPr lang="en-US" altLang="zh-CN" sz="2800">
              <a:sym typeface="+mn-ea"/>
            </a:endParaRPr>
          </a:p>
          <a:p>
            <a:pPr lvl="1" algn="l"/>
            <a:r>
              <a:rPr lang="en-US" altLang="zh-CN" sz="2400">
                <a:sym typeface="+mn-ea"/>
              </a:rPr>
              <a:t>signs indicating a desire to end a conversation:</a:t>
            </a:r>
            <a:endParaRPr lang="en-US" altLang="zh-CN" sz="2400">
              <a:solidFill>
                <a:schemeClr val="tx1"/>
              </a:solidFill>
            </a:endParaRPr>
          </a:p>
          <a:p>
            <a:pPr lvl="2" algn="l"/>
            <a:r>
              <a:rPr lang="en-US" altLang="zh-CN">
                <a:sym typeface="+mn-ea"/>
              </a:rPr>
              <a:t>implict:look at the watch</a:t>
            </a:r>
            <a:endParaRPr lang="en-US" altLang="zh-CN">
              <a:solidFill>
                <a:schemeClr val="tx1"/>
              </a:solidFill>
            </a:endParaRPr>
          </a:p>
          <a:p>
            <a:pPr lvl="2" algn="l"/>
            <a:r>
              <a:rPr lang="en-US" altLang="zh-CN">
                <a:sym typeface="+mn-ea"/>
              </a:rPr>
              <a:t>explict:“Well, I have to go now.|Oh dear, look at the time.”</a:t>
            </a:r>
            <a:endParaRPr lang="en-US" altLang="zh-CN">
              <a:solidFill>
                <a:schemeClr val="tx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chemeClr val="tx1"/>
                </a:solidFill>
              </a:rPr>
              <a:t>Nonverbal communication also plays an important role in face-to-face conversation</a:t>
            </a:r>
            <a:endParaRPr lang="en-US" altLang="zh-CN" sz="2800">
              <a:solidFill>
                <a:schemeClr val="tx1"/>
              </a:solidFill>
            </a:endParaRP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the use of </a:t>
            </a:r>
            <a:r>
              <a:rPr lang="en-US" altLang="zh-CN" sz="2400" u="sng">
                <a:solidFill>
                  <a:schemeClr val="tx1"/>
                </a:solidFill>
              </a:rPr>
              <a:t>facial expressions</a:t>
            </a:r>
            <a:r>
              <a:rPr lang="en-US" altLang="zh-CN" sz="2400">
                <a:solidFill>
                  <a:schemeClr val="tx1"/>
                </a:solidFill>
              </a:rPr>
              <a:t>, voice intonation, gesturing etc.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Remote conversation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 algn="l"/>
            <a:r>
              <a:rPr lang="en-US" altLang="zh-CN">
                <a:solidFill>
                  <a:schemeClr val="tx1"/>
                </a:solidFill>
              </a:rPr>
              <a:t>Telephone&amp;other techs are invented</a:t>
            </a:r>
            <a:endParaRPr lang="en-US" altLang="zh-CN">
              <a:solidFill>
                <a:schemeClr val="tx1"/>
              </a:solidFill>
            </a:endParaRPr>
          </a:p>
          <a:p>
            <a:pPr lvl="0" algn="l"/>
            <a:r>
              <a:rPr lang="en-US" altLang="zh-CN">
                <a:solidFill>
                  <a:schemeClr val="tx1"/>
                </a:solidFill>
              </a:rPr>
              <a:t>Media space</a:t>
            </a:r>
            <a:endParaRPr lang="en-US" altLang="zh-CN">
              <a:solidFill>
                <a:schemeClr val="tx1"/>
              </a:solidFill>
            </a:endParaRPr>
          </a:p>
          <a:p>
            <a:pPr lvl="0" algn="l"/>
            <a:r>
              <a:rPr lang="en-US" altLang="zh-CN">
                <a:solidFill>
                  <a:schemeClr val="tx1"/>
                </a:solidFill>
              </a:rPr>
              <a:t>eg.Media Windows</a:t>
            </a:r>
            <a:endParaRPr lang="en-US" altLang="zh-CN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84650" y="2435225"/>
            <a:ext cx="33147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Remote conversation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 algn="l"/>
            <a:r>
              <a:rPr lang="en-US" altLang="zh-CN">
                <a:solidFill>
                  <a:schemeClr val="tx1"/>
                </a:solidFill>
              </a:rPr>
              <a:t>Media space:videoconferencing</a:t>
            </a:r>
            <a:endParaRPr lang="en-US" altLang="zh-CN">
              <a:solidFill>
                <a:schemeClr val="tx1"/>
              </a:solidFill>
            </a:endParaRPr>
          </a:p>
          <a:p>
            <a:pPr lvl="1" algn="l"/>
            <a:r>
              <a:rPr lang="en-US" altLang="zh-CN">
                <a:solidFill>
                  <a:schemeClr val="tx1"/>
                </a:solidFill>
              </a:rPr>
              <a:t>enlarging the person who’s talking</a:t>
            </a:r>
            <a:endParaRPr lang="en-US" altLang="zh-CN">
              <a:solidFill>
                <a:schemeClr val="tx1"/>
              </a:solidFill>
            </a:endParaRPr>
          </a:p>
          <a:p>
            <a:pPr lvl="1" algn="l"/>
            <a:r>
              <a:rPr lang="en-US" altLang="zh-CN">
                <a:solidFill>
                  <a:schemeClr val="tx1"/>
                </a:solidFill>
              </a:rPr>
              <a:t>highlighting their portal</a:t>
            </a:r>
            <a:endParaRPr lang="en-US" altLang="zh-CN">
              <a:solidFill>
                <a:schemeClr val="tx1"/>
              </a:solidFill>
            </a:endParaRPr>
          </a:p>
          <a:p>
            <a:pPr lvl="0" algn="l"/>
            <a:r>
              <a:rPr lang="en-US" altLang="zh-CN">
                <a:solidFill>
                  <a:schemeClr val="tx1"/>
                </a:solidFill>
              </a:rPr>
              <a:t>robotics</a:t>
            </a:r>
            <a:endParaRPr lang="en-US" altLang="zh-CN">
              <a:solidFill>
                <a:schemeClr val="tx1"/>
              </a:solidFill>
            </a:endParaRPr>
          </a:p>
          <a:p>
            <a:pPr lvl="1" algn="l"/>
            <a:r>
              <a:rPr lang="en-US" altLang="zh-CN" sz="2400">
                <a:solidFill>
                  <a:schemeClr val="tx1"/>
                </a:solidFill>
              </a:rPr>
              <a:t>increasing physical&amp;social self-efficacy and well-being</a:t>
            </a:r>
            <a:endParaRPr lang="en-US" altLang="zh-CN" sz="2400">
              <a:solidFill>
                <a:schemeClr val="tx1"/>
              </a:solidFill>
            </a:endParaRPr>
          </a:p>
          <a:p>
            <a:pPr lvl="1" algn="l"/>
            <a:r>
              <a:rPr lang="en-US" altLang="zh-CN" sz="2400">
                <a:solidFill>
                  <a:schemeClr val="tx1"/>
                </a:solidFill>
              </a:rPr>
              <a:t>telepresence robots:</a:t>
            </a:r>
            <a:endParaRPr lang="en-US" altLang="zh-CN" sz="2400">
              <a:solidFill>
                <a:schemeClr val="tx1"/>
              </a:solidFill>
            </a:endParaRPr>
          </a:p>
          <a:p>
            <a:pPr lvl="2" algn="l"/>
            <a:endParaRPr lang="en-US" altLang="zh-CN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Remote conversation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 algn="l"/>
            <a:r>
              <a:rPr lang="en-US" altLang="zh-CN">
                <a:solidFill>
                  <a:schemeClr val="tx1"/>
                </a:solidFill>
              </a:rPr>
              <a:t>telepresence robotics:</a:t>
            </a:r>
            <a:endParaRPr lang="en-US" altLang="zh-CN">
              <a:solidFill>
                <a:schemeClr val="tx1"/>
              </a:solidFill>
            </a:endParaRPr>
          </a:p>
          <a:p>
            <a:pPr lvl="1" algn="l"/>
            <a:r>
              <a:rPr lang="en-US" altLang="zh-CN">
                <a:solidFill>
                  <a:schemeClr val="tx1"/>
                </a:solidFill>
              </a:rPr>
              <a:t>a regular feature at conferences,especially ACM CHI(2019)</a:t>
            </a:r>
            <a:endParaRPr lang="en-US" altLang="zh-CN">
              <a:solidFill>
                <a:schemeClr val="tx1"/>
              </a:solidFill>
            </a:endParaRPr>
          </a:p>
          <a:p>
            <a:pPr lvl="1" algn="l"/>
            <a:r>
              <a:rPr lang="en-US" altLang="zh-CN">
                <a:solidFill>
                  <a:schemeClr val="tx1"/>
                </a:solidFill>
              </a:rPr>
              <a:t>5 feet-tall,have a display screen showing the remote’s peoples face at the top,wheels at the bottom</a:t>
            </a:r>
            <a:endParaRPr lang="en-US" altLang="zh-CN">
              <a:solidFill>
                <a:schemeClr val="tx1"/>
              </a:solidFill>
            </a:endParaRPr>
          </a:p>
          <a:p>
            <a:pPr lvl="1" algn="l"/>
            <a:r>
              <a:rPr lang="en-US" altLang="zh-CN">
                <a:solidFill>
                  <a:schemeClr val="tx1"/>
                </a:solidFill>
              </a:rPr>
              <a:t>a microphone and two cameras</a:t>
            </a:r>
            <a:endParaRPr lang="en-US" altLang="zh-CN">
              <a:solidFill>
                <a:schemeClr val="tx1"/>
              </a:solidFill>
            </a:endParaRPr>
          </a:p>
          <a:p>
            <a:pPr marL="685800" lvl="1" indent="-2286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Strong immersion leads to a better experience</a:t>
            </a:r>
            <a:endParaRPr lang="en-US" altLang="zh-CN">
              <a:solidFill>
                <a:schemeClr val="tx1"/>
              </a:solidFill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both to the conference attendees and the remote user</a:t>
            </a:r>
            <a:endParaRPr lang="en-US" altLang="zh-CN">
              <a:solidFill>
                <a:schemeClr val="tx1"/>
              </a:solidFill>
            </a:endParaRPr>
          </a:p>
          <a:p>
            <a:pPr marL="685800" lvl="1" indent="-2286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Some probs:</a:t>
            </a:r>
            <a:endParaRPr lang="en-US" altLang="zh-CN">
              <a:solidFill>
                <a:schemeClr val="tx1"/>
              </a:solidFill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can’t </a:t>
            </a:r>
            <a:r>
              <a:rPr lang="en-US" altLang="zh-CN" u="sng">
                <a:solidFill>
                  <a:schemeClr val="tx1"/>
                </a:solidFill>
              </a:rPr>
              <a:t>see how he/she appears to others</a:t>
            </a:r>
            <a:endParaRPr lang="en-US" altLang="zh-CN">
              <a:solidFill>
                <a:schemeClr val="tx1"/>
              </a:solidFill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can’t judge the volumn of his/her voice</a:t>
            </a:r>
            <a:endParaRPr lang="en-US" altLang="zh-CN">
              <a:solidFill>
                <a:schemeClr val="tx1"/>
              </a:solidFill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can’t interat with physical peripheral environment</a:t>
            </a:r>
            <a:endParaRPr lang="en-US" altLang="zh-CN">
              <a:solidFill>
                <a:schemeClr val="tx1"/>
              </a:solidFill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obstruct the attendee’s view</a:t>
            </a:r>
            <a:endParaRPr lang="en-US" altLang="zh-CN">
              <a:solidFill>
                <a:schemeClr val="tx1"/>
              </a:solidFill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endParaRPr lang="en-US" altLang="zh-CN" sz="171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  <a:p>
            <a:pPr lvl="0" algn="l"/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Box1:Facebook Spaces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i="1"/>
              <a:t>How Natural Is It to Socialize in a 3D World</a:t>
            </a:r>
            <a:endParaRPr lang="zh-CN" altLang="en-US" i="1"/>
          </a:p>
          <a:p>
            <a:r>
              <a:rPr lang="en-US" altLang="zh-CN"/>
              <a:t>G</a:t>
            </a:r>
            <a:r>
              <a:rPr lang="zh-CN" altLang="en-US"/>
              <a:t>oal</a:t>
            </a:r>
            <a:r>
              <a:rPr lang="en-US" altLang="zh-CN"/>
              <a:t>:provide a magical feeling of presence</a:t>
            </a:r>
            <a:endParaRPr lang="en-US" altLang="zh-CN"/>
          </a:p>
          <a:p>
            <a:r>
              <a:rPr lang="en-US" altLang="zh-CN"/>
              <a:t>Probs:</a:t>
            </a:r>
            <a:endParaRPr lang="en-US" altLang="zh-CN"/>
          </a:p>
          <a:p>
            <a:pPr lvl="1"/>
            <a:r>
              <a:rPr lang="en-US" altLang="zh-CN"/>
              <a:t>a way to go before natural:</a:t>
            </a:r>
            <a:endParaRPr lang="en-US" altLang="zh-CN"/>
          </a:p>
          <a:p>
            <a:pPr lvl="2"/>
            <a:r>
              <a:rPr lang="en-US" altLang="zh-CN"/>
              <a:t>facial expression</a:t>
            </a:r>
            <a:endParaRPr lang="en-US" altLang="zh-CN"/>
          </a:p>
          <a:p>
            <a:pPr lvl="2"/>
            <a:r>
              <a:rPr lang="en-US" altLang="zh-CN"/>
              <a:t>skin tone</a:t>
            </a:r>
            <a:endParaRPr lang="en-US" altLang="zh-CN"/>
          </a:p>
          <a:p>
            <a:pPr marL="914400" lvl="2" indent="0">
              <a:buNone/>
            </a:pPr>
            <a:r>
              <a:rPr lang="en-US" altLang="zh-CN"/>
              <a:t>the two features appear to be cartoon-like</a:t>
            </a:r>
            <a:endParaRPr lang="en-US" altLang="zh-CN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perennial problem of motion sickness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BOX2:Simulating Human Mirroring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</a:t>
            </a:r>
            <a:r>
              <a:rPr lang="zh-CN" altLang="en-US"/>
              <a:t>uring f</a:t>
            </a:r>
            <a:r>
              <a:rPr lang="en-US" altLang="zh-CN"/>
              <a:t>-</a:t>
            </a:r>
            <a:r>
              <a:rPr lang="zh-CN" altLang="en-US"/>
              <a:t>t-f conversations</a:t>
            </a:r>
            <a:r>
              <a:rPr lang="en-US" altLang="zh-CN"/>
              <a:t>,mirroring is a common phenomenon</a:t>
            </a:r>
            <a:endParaRPr lang="en-US" altLang="zh-CN"/>
          </a:p>
          <a:p>
            <a:pPr lvl="1"/>
            <a:r>
              <a:rPr lang="en-US" altLang="zh-CN"/>
              <a:t>mimic </a:t>
            </a:r>
            <a:r>
              <a:rPr lang="en-US" altLang="zh-CN" u="sng"/>
              <a:t>facial expressions</a:t>
            </a:r>
            <a:r>
              <a:rPr lang="en-US" altLang="zh-CN"/>
              <a:t>,gestures,body movements</a:t>
            </a:r>
            <a:endParaRPr lang="en-US" altLang="zh-CN"/>
          </a:p>
          <a:p>
            <a:pPr lvl="1"/>
            <a:r>
              <a:rPr lang="en-US" altLang="zh-CN"/>
              <a:t>induce empathy and closeness bet conversing</a:t>
            </a:r>
            <a:endParaRPr lang="en-US" altLang="zh-CN"/>
          </a:p>
          <a:p>
            <a:pPr lvl="0"/>
            <a:r>
              <a:rPr lang="en-US" altLang="zh-CN"/>
              <a:t>A new tech called FaceShare:</a:t>
            </a:r>
            <a:endParaRPr lang="en-US" altLang="zh-CN"/>
          </a:p>
          <a:p>
            <a:pPr lvl="1"/>
            <a:r>
              <a:rPr lang="en-US" altLang="zh-CN"/>
              <a:t>3D modeling including contours, eyes, nose, and mouth</a:t>
            </a:r>
            <a:endParaRPr lang="en-US" altLang="zh-CN"/>
          </a:p>
          <a:p>
            <a:pPr lvl="1"/>
            <a:r>
              <a:rPr lang="en-US" altLang="zh-CN"/>
              <a:t>raising the </a:t>
            </a:r>
            <a:r>
              <a:rPr lang="en-US" altLang="zh-CN" u="sng"/>
              <a:t>low eyelids</a:t>
            </a:r>
            <a:r>
              <a:rPr lang="en-US" altLang="zh-CN"/>
              <a:t>,</a:t>
            </a:r>
            <a:r>
              <a:rPr lang="en-US" altLang="zh-CN" u="sng"/>
              <a:t>ends of mouth</a:t>
            </a:r>
            <a:r>
              <a:rPr lang="en-US" altLang="zh-CN"/>
              <a:t>,</a:t>
            </a:r>
            <a:r>
              <a:rPr lang="en-US" altLang="zh-CN" u="sng"/>
              <a:t>cheeks</a:t>
            </a:r>
            <a:endParaRPr lang="en-US" altLang="zh-CN" u="sng"/>
          </a:p>
          <a:p>
            <a:pPr lvl="2"/>
            <a:r>
              <a:rPr lang="en-US" altLang="zh-CN"/>
              <a:t>similar blendshapes matters in emotional communication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BOX3:Playing Together in the Same Place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Augmented reality sandboxes</a:t>
            </a:r>
            <a:r>
              <a:rPr lang="en-US" altLang="zh-CN"/>
              <a:t>:</a:t>
            </a:r>
            <a:endParaRPr lang="en-US" altLang="zh-CN"/>
          </a:p>
          <a:p>
            <a:pPr lvl="1"/>
            <a:r>
              <a:rPr lang="en-US" altLang="zh-CN"/>
              <a:t>interact with a landscape,the sand is real but the landscape is virtual</a:t>
            </a:r>
            <a:endParaRPr lang="en-US" altLang="zh-CN"/>
          </a:p>
          <a:p>
            <a:pPr lvl="1"/>
            <a:r>
              <a:rPr lang="en-US" altLang="zh-CN"/>
              <a:t>shape the sand into diff-shaped contours</a:t>
            </a:r>
            <a:endParaRPr lang="en-US" altLang="zh-CN"/>
          </a:p>
          <a:p>
            <a:pPr lvl="1"/>
            <a:r>
              <a:rPr lang="en-US" altLang="zh-CN"/>
              <a:t>provide a creative space for both children and adult</a:t>
            </a:r>
            <a:endParaRPr lang="en-US" altLang="zh-CN"/>
          </a:p>
          <a:p>
            <a:pPr lvl="0"/>
            <a:r>
              <a:rPr lang="en-US" altLang="zh-CN"/>
              <a:t>The extensive applications of AR:in industry/education/medical</a:t>
            </a:r>
            <a:endParaRPr lang="en-US" altLang="zh-CN"/>
          </a:p>
          <a:p>
            <a:pPr lvl="1"/>
            <a:r>
              <a:rPr lang="en-US" altLang="zh-CN"/>
              <a:t>the experence of AR in industry</a:t>
            </a:r>
            <a:endParaRPr lang="en-US" altLang="zh-CN"/>
          </a:p>
          <a:p>
            <a:pPr lvl="2"/>
            <a:r>
              <a:rPr lang="en-US" altLang="zh-CN"/>
              <a:t>microsoft&amp;meta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NjYwMTEyMGZiZjU4Njg5YjBlMDhjYzRjMTYyMWIxMGMifQ=="/>
  <p:tag name="KSO_WPP_MARK_KEY" val="cda62272-587a-4efc-907f-f144c2ffd5bf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3698</Words>
  <Application>WPS 演示</Application>
  <PresentationFormat>宽屏</PresentationFormat>
  <Paragraphs>157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Interaction Design</vt:lpstr>
      <vt:lpstr>Objectives</vt:lpstr>
      <vt:lpstr>Introduction&amp;Being social</vt:lpstr>
      <vt:lpstr>Introduction&amp;Being social</vt:lpstr>
      <vt:lpstr>Activity1</vt:lpstr>
      <vt:lpstr>Face-To-Face conversation</vt:lpstr>
      <vt:lpstr>Face-To-Face conversation</vt:lpstr>
      <vt:lpstr>Face-To-Face conversation</vt:lpstr>
      <vt:lpstr>Face-To-Face conversation</vt:lpstr>
      <vt:lpstr>Remote conversation</vt:lpstr>
      <vt:lpstr>Remote conversation</vt:lpstr>
      <vt:lpstr>Remote conversation</vt:lpstr>
      <vt:lpstr>Box1:Facebook Spaces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赵晟</dc:creator>
  <cp:lastModifiedBy>2021012336</cp:lastModifiedBy>
  <cp:revision>38</cp:revision>
  <dcterms:created xsi:type="dcterms:W3CDTF">2023-10-19T14:51:00Z</dcterms:created>
  <dcterms:modified xsi:type="dcterms:W3CDTF">2023-10-20T09:35:59Z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83E410747DB84F31AB4796F4CABFBE72_12</vt:lpwstr>
  </property>
  <property fmtid="{D5CDD505-2E9C-101B-9397-08002B2CF9AE}" pid="3" name="KSOProductBuildVer">
    <vt:lpwstr>2052-11.1.0.14309</vt:lpwstr>
  </property>
</Properties>
</file>